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75995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2903220" y="1658112"/>
            <a:ext cx="5486400" cy="960120"/>
          </a:xfrm>
          <a:prstGeom prst="rect">
            <a:avLst/>
          </a:prstGeom>
          <a:noFill/>
          <a:ln/>
        </p:spPr>
        <p:txBody>
          <a:bodyPr wrap="square" lIns="0" tIns="0" rIns="0" bIns="0" rtlCol="0" anchor="ctr"/>
          <a:lstStyle/>
          <a:p>
            <a:pPr marL="0" indent="0">
              <a:buNone/>
            </a:pPr>
            <a:r>
              <a:rPr lang="en-US" sz="5200" b="1" dirty="0">
                <a:solidFill>
                  <a:srgbClr val="111111"/>
                </a:solidFill>
                <a:latin typeface="Calibri" pitchFamily="34" charset="0"/>
                <a:ea typeface="Calibri" pitchFamily="34" charset="-122"/>
                <a:cs typeface="Calibri" pitchFamily="34" charset="-120"/>
              </a:rPr>
              <a:t> Lakshan AI: </a:t>
            </a:r>
          </a:p>
          <a:p>
            <a:pPr marL="0" indent="0">
              <a:buNone/>
            </a:pPr>
            <a:r>
              <a:rPr lang="en-US" sz="5200" b="1" dirty="0">
                <a:solidFill>
                  <a:schemeClr val="accent6"/>
                </a:solidFill>
                <a:latin typeface="Calibri" pitchFamily="34" charset="0"/>
                <a:ea typeface="Calibri" pitchFamily="34" charset="-122"/>
                <a:cs typeface="Calibri" pitchFamily="34" charset="-120"/>
              </a:rPr>
              <a:t>   AI Health</a:t>
            </a:r>
            <a:endParaRPr lang="en-US" sz="5200" dirty="0">
              <a:solidFill>
                <a:schemeClr val="accent6"/>
              </a:solidFill>
            </a:endParaRPr>
          </a:p>
        </p:txBody>
      </p:sp>
      <p:sp>
        <p:nvSpPr>
          <p:cNvPr id="4" name="Text 2"/>
          <p:cNvSpPr/>
          <p:nvPr/>
        </p:nvSpPr>
        <p:spPr>
          <a:xfrm>
            <a:off x="2068068" y="2846070"/>
            <a:ext cx="5943600" cy="914400"/>
          </a:xfrm>
          <a:prstGeom prst="rect">
            <a:avLst/>
          </a:prstGeom>
          <a:noFill/>
          <a:ln/>
        </p:spPr>
        <p:txBody>
          <a:bodyPr wrap="square" lIns="0" tIns="0" rIns="0" bIns="0" rtlCol="0" anchor="ctr"/>
          <a:lstStyle/>
          <a:p>
            <a:pPr marL="0" indent="0">
              <a:buNone/>
            </a:pPr>
            <a:r>
              <a:rPr lang="en-US" sz="5200" b="1" dirty="0">
                <a:solidFill>
                  <a:schemeClr val="accent6"/>
                </a:solidFill>
                <a:latin typeface="Calibri" pitchFamily="34" charset="0"/>
                <a:ea typeface="Calibri" pitchFamily="34" charset="-122"/>
                <a:cs typeface="Calibri" pitchFamily="34" charset="-120"/>
              </a:rPr>
              <a:t>   Diagnosis App</a:t>
            </a:r>
            <a:endParaRPr lang="en-US" sz="5200" dirty="0">
              <a:solidFill>
                <a:schemeClr val="accent6"/>
              </a:solidFill>
            </a:endParaRPr>
          </a:p>
        </p:txBody>
      </p:sp>
      <p:sp>
        <p:nvSpPr>
          <p:cNvPr id="5" name="Text 3"/>
          <p:cNvSpPr/>
          <p:nvPr/>
        </p:nvSpPr>
        <p:spPr>
          <a:xfrm>
            <a:off x="2068068" y="4011168"/>
            <a:ext cx="5486400" cy="347472"/>
          </a:xfrm>
          <a:prstGeom prst="rect">
            <a:avLst/>
          </a:prstGeom>
          <a:noFill/>
          <a:ln/>
        </p:spPr>
        <p:txBody>
          <a:bodyPr wrap="square" lIns="0" tIns="0" rIns="0" bIns="0" rtlCol="0" anchor="ctr"/>
          <a:lstStyle/>
          <a:p>
            <a:pPr marL="0" indent="0">
              <a:buNone/>
            </a:pPr>
            <a:r>
              <a:rPr lang="en-US" sz="1300" i="1" dirty="0">
                <a:solidFill>
                  <a:srgbClr val="999999"/>
                </a:solidFill>
                <a:latin typeface="Calibri" pitchFamily="34" charset="0"/>
                <a:ea typeface="Calibri" pitchFamily="34" charset="-122"/>
                <a:cs typeface="Calibri" pitchFamily="34" charset="-120"/>
              </a:rPr>
              <a:t>"When there is no doctor nearby — we are."</a:t>
            </a:r>
            <a:endParaRPr lang="en-US" sz="1300" dirty="0"/>
          </a:p>
        </p:txBody>
      </p:sp>
      <p:sp>
        <p:nvSpPr>
          <p:cNvPr id="16" name="Text 14"/>
          <p:cNvSpPr/>
          <p:nvPr/>
        </p:nvSpPr>
        <p:spPr>
          <a:xfrm>
            <a:off x="0" y="4869180"/>
            <a:ext cx="9144000" cy="256032"/>
          </a:xfrm>
          <a:prstGeom prst="rect">
            <a:avLst/>
          </a:prstGeom>
          <a:noFill/>
          <a:ln/>
        </p:spPr>
        <p:txBody>
          <a:bodyPr wrap="square" rtlCol="0" anchor="ctr"/>
          <a:lstStyle/>
          <a:p>
            <a:pPr marL="0" indent="0" algn="r">
              <a:buNone/>
            </a:pPr>
            <a:r>
              <a:rPr lang="en-US" sz="850" dirty="0">
                <a:solidFill>
                  <a:srgbClr val="E8E8E8"/>
                </a:solidFill>
                <a:latin typeface="Calibri" pitchFamily="34" charset="0"/>
                <a:ea typeface="Calibri" pitchFamily="34" charset="-122"/>
                <a:cs typeface="Calibri" pitchFamily="34" charset="-120"/>
              </a:rPr>
              <a:t>01 / 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01168"/>
            <a:ext cx="7315200" cy="201168"/>
          </a:xfrm>
          <a:prstGeom prst="rect">
            <a:avLst/>
          </a:prstGeom>
          <a:noFill/>
          <a:ln/>
        </p:spPr>
        <p:txBody>
          <a:bodyPr wrap="square" lIns="0" tIns="0" rIns="0" bIns="0" rtlCol="0" anchor="ctr"/>
          <a:lstStyle/>
          <a:p>
            <a:pPr marL="0" indent="0">
              <a:buNone/>
            </a:pPr>
            <a:r>
              <a:rPr lang="en-US" sz="1200" b="1" kern="0" spc="300" dirty="0">
                <a:latin typeface="Cambria" panose="02040503050406030204" pitchFamily="18" charset="0"/>
                <a:ea typeface="Cambria" panose="02040503050406030204" pitchFamily="18" charset="0"/>
                <a:cs typeface="Calibri" pitchFamily="34" charset="-120"/>
              </a:rPr>
              <a:t>PROBLEM STATEMENT</a:t>
            </a:r>
            <a:endParaRPr lang="en-US" sz="1200" dirty="0">
              <a:latin typeface="Cambria" panose="02040503050406030204" pitchFamily="18" charset="0"/>
              <a:ea typeface="Cambria" panose="02040503050406030204" pitchFamily="18" charset="0"/>
            </a:endParaRPr>
          </a:p>
        </p:txBody>
      </p:sp>
      <p:sp>
        <p:nvSpPr>
          <p:cNvPr id="4" name="Text 2"/>
          <p:cNvSpPr/>
          <p:nvPr/>
        </p:nvSpPr>
        <p:spPr>
          <a:xfrm>
            <a:off x="502920" y="420624"/>
            <a:ext cx="8229600" cy="530352"/>
          </a:xfrm>
          <a:prstGeom prst="rect">
            <a:avLst/>
          </a:prstGeom>
          <a:noFill/>
          <a:ln/>
        </p:spPr>
        <p:txBody>
          <a:bodyPr wrap="square" lIns="0" tIns="0" rIns="0" bIns="0" rtlCol="0" anchor="ctr"/>
          <a:lstStyle/>
          <a:p>
            <a:pPr marL="0" indent="0">
              <a:buNone/>
            </a:pPr>
            <a:r>
              <a:rPr lang="en-US" sz="2600" b="1" dirty="0">
                <a:solidFill>
                  <a:srgbClr val="111111"/>
                </a:solidFill>
                <a:latin typeface="Calibri" pitchFamily="34" charset="0"/>
                <a:ea typeface="Calibri" pitchFamily="34" charset="-122"/>
                <a:cs typeface="Calibri" pitchFamily="34" charset="-120"/>
              </a:rPr>
              <a:t>Healthcare is inaccessible when it matters most</a:t>
            </a:r>
            <a:endParaRPr lang="en-US" sz="2600" dirty="0"/>
          </a:p>
        </p:txBody>
      </p:sp>
      <p:sp>
        <p:nvSpPr>
          <p:cNvPr id="6" name="Text 4"/>
          <p:cNvSpPr/>
          <p:nvPr/>
        </p:nvSpPr>
        <p:spPr>
          <a:xfrm>
            <a:off x="502920" y="1170432"/>
            <a:ext cx="2743200" cy="804672"/>
          </a:xfrm>
          <a:prstGeom prst="rect">
            <a:avLst/>
          </a:prstGeom>
          <a:noFill/>
          <a:ln/>
        </p:spPr>
        <p:txBody>
          <a:bodyPr wrap="square" lIns="0" tIns="0" rIns="0" bIns="0" rtlCol="0" anchor="ctr"/>
          <a:lstStyle/>
          <a:p>
            <a:pPr marL="0" indent="0" algn="l">
              <a:buNone/>
            </a:pPr>
            <a:r>
              <a:rPr lang="en-US" sz="4800" b="1" dirty="0">
                <a:solidFill>
                  <a:srgbClr val="2563EB"/>
                </a:solidFill>
                <a:latin typeface="Calibri" pitchFamily="34" charset="0"/>
                <a:ea typeface="Calibri" pitchFamily="34" charset="-122"/>
                <a:cs typeface="Calibri" pitchFamily="34" charset="-120"/>
              </a:rPr>
              <a:t>4.5B</a:t>
            </a:r>
            <a:endParaRPr lang="en-US" sz="4800" dirty="0"/>
          </a:p>
        </p:txBody>
      </p:sp>
      <p:sp>
        <p:nvSpPr>
          <p:cNvPr id="7" name="Text 5"/>
          <p:cNvSpPr/>
          <p:nvPr/>
        </p:nvSpPr>
        <p:spPr>
          <a:xfrm>
            <a:off x="502920" y="1993392"/>
            <a:ext cx="2560320" cy="411480"/>
          </a:xfrm>
          <a:prstGeom prst="rect">
            <a:avLst/>
          </a:prstGeom>
          <a:noFill/>
          <a:ln/>
        </p:spPr>
        <p:txBody>
          <a:bodyPr wrap="square" lIns="0" tIns="0" rIns="0" bIns="0" rtlCol="0" anchor="ctr"/>
          <a:lstStyle/>
          <a:p>
            <a:pPr marL="0" indent="0">
              <a:buNone/>
            </a:pPr>
            <a:r>
              <a:rPr lang="en-US" sz="1050" dirty="0">
                <a:solidFill>
                  <a:srgbClr val="555555"/>
                </a:solidFill>
                <a:latin typeface="Calibri" pitchFamily="34" charset="0"/>
                <a:ea typeface="Calibri" pitchFamily="34" charset="-122"/>
                <a:cs typeface="Calibri" pitchFamily="34" charset="-120"/>
              </a:rPr>
              <a:t>people lack basic healthcare access worldwide</a:t>
            </a:r>
            <a:endParaRPr lang="en-US" sz="1050" dirty="0"/>
          </a:p>
        </p:txBody>
      </p:sp>
      <p:sp>
        <p:nvSpPr>
          <p:cNvPr id="8" name="Shape 6"/>
          <p:cNvSpPr/>
          <p:nvPr/>
        </p:nvSpPr>
        <p:spPr>
          <a:xfrm>
            <a:off x="502920" y="2432304"/>
            <a:ext cx="365760" cy="27432"/>
          </a:xfrm>
          <a:prstGeom prst="rect">
            <a:avLst/>
          </a:prstGeom>
          <a:solidFill>
            <a:srgbClr val="2563EB"/>
          </a:solidFill>
          <a:ln w="12700">
            <a:solidFill>
              <a:srgbClr val="2563EB"/>
            </a:solidFill>
            <a:prstDash val="solid"/>
          </a:ln>
        </p:spPr>
        <p:txBody>
          <a:bodyPr/>
          <a:lstStyle/>
          <a:p>
            <a:endParaRPr lang="en-US"/>
          </a:p>
        </p:txBody>
      </p:sp>
      <p:sp>
        <p:nvSpPr>
          <p:cNvPr id="9" name="Text 7"/>
          <p:cNvSpPr/>
          <p:nvPr/>
        </p:nvSpPr>
        <p:spPr>
          <a:xfrm>
            <a:off x="3383280" y="1170432"/>
            <a:ext cx="2743200" cy="804672"/>
          </a:xfrm>
          <a:prstGeom prst="rect">
            <a:avLst/>
          </a:prstGeom>
          <a:noFill/>
          <a:ln/>
        </p:spPr>
        <p:txBody>
          <a:bodyPr wrap="square" lIns="0" tIns="0" rIns="0" bIns="0" rtlCol="0" anchor="ctr"/>
          <a:lstStyle/>
          <a:p>
            <a:pPr marL="0" indent="0" algn="l">
              <a:buNone/>
            </a:pPr>
            <a:r>
              <a:rPr lang="en-US" sz="4800" b="1" dirty="0">
                <a:solidFill>
                  <a:srgbClr val="DC2626"/>
                </a:solidFill>
                <a:latin typeface="Calibri" pitchFamily="34" charset="0"/>
                <a:ea typeface="Calibri" pitchFamily="34" charset="-122"/>
                <a:cs typeface="Calibri" pitchFamily="34" charset="-120"/>
              </a:rPr>
              <a:t>56%</a:t>
            </a:r>
            <a:endParaRPr lang="en-US" sz="4800" dirty="0"/>
          </a:p>
        </p:txBody>
      </p:sp>
      <p:sp>
        <p:nvSpPr>
          <p:cNvPr id="10" name="Text 8"/>
          <p:cNvSpPr/>
          <p:nvPr/>
        </p:nvSpPr>
        <p:spPr>
          <a:xfrm>
            <a:off x="3383280" y="1993392"/>
            <a:ext cx="2560320" cy="411480"/>
          </a:xfrm>
          <a:prstGeom prst="rect">
            <a:avLst/>
          </a:prstGeom>
          <a:noFill/>
          <a:ln/>
        </p:spPr>
        <p:txBody>
          <a:bodyPr wrap="square" lIns="0" tIns="0" rIns="0" bIns="0" rtlCol="0" anchor="ctr"/>
          <a:lstStyle/>
          <a:p>
            <a:pPr marL="0" indent="0">
              <a:buNone/>
            </a:pPr>
            <a:r>
              <a:rPr lang="en-US" sz="1050" dirty="0">
                <a:solidFill>
                  <a:srgbClr val="555555"/>
                </a:solidFill>
                <a:latin typeface="Calibri" pitchFamily="34" charset="0"/>
                <a:ea typeface="Calibri" pitchFamily="34" charset="-122"/>
                <a:cs typeface="Calibri" pitchFamily="34" charset="-120"/>
              </a:rPr>
              <a:t>delay seeking care due to cost or distance</a:t>
            </a:r>
            <a:endParaRPr lang="en-US" sz="1050" dirty="0"/>
          </a:p>
        </p:txBody>
      </p:sp>
      <p:sp>
        <p:nvSpPr>
          <p:cNvPr id="11" name="Shape 9"/>
          <p:cNvSpPr/>
          <p:nvPr/>
        </p:nvSpPr>
        <p:spPr>
          <a:xfrm>
            <a:off x="3383280" y="2432304"/>
            <a:ext cx="365760" cy="27432"/>
          </a:xfrm>
          <a:prstGeom prst="rect">
            <a:avLst/>
          </a:prstGeom>
          <a:solidFill>
            <a:srgbClr val="DC2626"/>
          </a:solidFill>
          <a:ln w="12700">
            <a:solidFill>
              <a:srgbClr val="DC2626"/>
            </a:solidFill>
            <a:prstDash val="solid"/>
          </a:ln>
        </p:spPr>
        <p:txBody>
          <a:bodyPr/>
          <a:lstStyle/>
          <a:p>
            <a:endParaRPr lang="en-US"/>
          </a:p>
        </p:txBody>
      </p:sp>
      <p:sp>
        <p:nvSpPr>
          <p:cNvPr id="12" name="Text 10"/>
          <p:cNvSpPr/>
          <p:nvPr/>
        </p:nvSpPr>
        <p:spPr>
          <a:xfrm>
            <a:off x="6263640" y="1170432"/>
            <a:ext cx="2743200" cy="804672"/>
          </a:xfrm>
          <a:prstGeom prst="rect">
            <a:avLst/>
          </a:prstGeom>
          <a:noFill/>
          <a:ln/>
        </p:spPr>
        <p:txBody>
          <a:bodyPr wrap="square" lIns="0" tIns="0" rIns="0" bIns="0" rtlCol="0" anchor="ctr"/>
          <a:lstStyle/>
          <a:p>
            <a:pPr marL="0" indent="0" algn="l">
              <a:buNone/>
            </a:pPr>
            <a:r>
              <a:rPr lang="en-US" sz="4800" b="1" dirty="0">
                <a:solidFill>
                  <a:srgbClr val="D97706"/>
                </a:solidFill>
                <a:latin typeface="Calibri" pitchFamily="34" charset="0"/>
                <a:ea typeface="Calibri" pitchFamily="34" charset="-122"/>
                <a:cs typeface="Calibri" pitchFamily="34" charset="-120"/>
              </a:rPr>
              <a:t>0.7</a:t>
            </a:r>
            <a:endParaRPr lang="en-US" sz="4800" dirty="0"/>
          </a:p>
        </p:txBody>
      </p:sp>
      <p:sp>
        <p:nvSpPr>
          <p:cNvPr id="13" name="Text 11"/>
          <p:cNvSpPr/>
          <p:nvPr/>
        </p:nvSpPr>
        <p:spPr>
          <a:xfrm>
            <a:off x="6263640" y="1993392"/>
            <a:ext cx="2560320" cy="411480"/>
          </a:xfrm>
          <a:prstGeom prst="rect">
            <a:avLst/>
          </a:prstGeom>
          <a:noFill/>
          <a:ln/>
        </p:spPr>
        <p:txBody>
          <a:bodyPr wrap="square" lIns="0" tIns="0" rIns="0" bIns="0" rtlCol="0" anchor="ctr"/>
          <a:lstStyle/>
          <a:p>
            <a:pPr marL="0" indent="0">
              <a:buNone/>
            </a:pPr>
            <a:r>
              <a:rPr lang="en-US" sz="1050" dirty="0">
                <a:solidFill>
                  <a:srgbClr val="555555"/>
                </a:solidFill>
                <a:latin typeface="Calibri" pitchFamily="34" charset="0"/>
                <a:ea typeface="Calibri" pitchFamily="34" charset="-122"/>
                <a:cs typeface="Calibri" pitchFamily="34" charset="-120"/>
              </a:rPr>
              <a:t>doctors per 1,000 people in Nepal (WHO standard 1.0)</a:t>
            </a:r>
            <a:endParaRPr lang="en-US" sz="1050" dirty="0"/>
          </a:p>
        </p:txBody>
      </p:sp>
      <p:sp>
        <p:nvSpPr>
          <p:cNvPr id="14" name="Shape 12"/>
          <p:cNvSpPr/>
          <p:nvPr/>
        </p:nvSpPr>
        <p:spPr>
          <a:xfrm>
            <a:off x="6263640" y="2432304"/>
            <a:ext cx="365760" cy="27432"/>
          </a:xfrm>
          <a:prstGeom prst="rect">
            <a:avLst/>
          </a:prstGeom>
          <a:solidFill>
            <a:srgbClr val="D97706"/>
          </a:solidFill>
          <a:ln w="12700">
            <a:solidFill>
              <a:srgbClr val="D97706"/>
            </a:solidFill>
            <a:prstDash val="solid"/>
          </a:ln>
        </p:spPr>
        <p:txBody>
          <a:bodyPr/>
          <a:lstStyle/>
          <a:p>
            <a:endParaRPr lang="en-US"/>
          </a:p>
        </p:txBody>
      </p:sp>
      <p:sp>
        <p:nvSpPr>
          <p:cNvPr id="15" name="Text 13"/>
          <p:cNvSpPr/>
          <p:nvPr/>
        </p:nvSpPr>
        <p:spPr>
          <a:xfrm>
            <a:off x="502920" y="2788920"/>
            <a:ext cx="2651760" cy="256032"/>
          </a:xfrm>
          <a:prstGeom prst="rect">
            <a:avLst/>
          </a:prstGeom>
          <a:noFill/>
          <a:ln/>
        </p:spPr>
        <p:txBody>
          <a:bodyPr wrap="square" lIns="0" tIns="0" rIns="0" bIns="0" rtlCol="0" anchor="ctr"/>
          <a:lstStyle/>
          <a:p>
            <a:pPr marL="0" indent="0">
              <a:buNone/>
            </a:pPr>
            <a:r>
              <a:rPr lang="en-US" sz="1200" b="1" dirty="0">
                <a:solidFill>
                  <a:srgbClr val="DC2626"/>
                </a:solidFill>
                <a:latin typeface="Calibri" pitchFamily="34" charset="0"/>
                <a:ea typeface="Calibri" pitchFamily="34" charset="-122"/>
                <a:cs typeface="Calibri" pitchFamily="34" charset="-120"/>
              </a:rPr>
              <a:t>The Problem</a:t>
            </a:r>
            <a:endParaRPr lang="en-US" sz="1200" dirty="0"/>
          </a:p>
        </p:txBody>
      </p:sp>
      <p:sp>
        <p:nvSpPr>
          <p:cNvPr id="16" name="Text 14"/>
          <p:cNvSpPr/>
          <p:nvPr/>
        </p:nvSpPr>
        <p:spPr>
          <a:xfrm>
            <a:off x="457200" y="2866644"/>
            <a:ext cx="2651760" cy="1691640"/>
          </a:xfrm>
          <a:prstGeom prst="rect">
            <a:avLst/>
          </a:prstGeom>
          <a:noFill/>
          <a:ln/>
        </p:spPr>
        <p:txBody>
          <a:bodyPr wrap="square" lIns="0" tIns="0" rIns="0" bIns="0" rtlCol="0" anchor="ctr"/>
          <a:lstStyle/>
          <a:p>
            <a:pPr marL="0" indent="0">
              <a:buNone/>
            </a:pPr>
            <a:r>
              <a:rPr lang="en-US" sz="1050" dirty="0">
                <a:solidFill>
                  <a:srgbClr val="555555"/>
                </a:solidFill>
                <a:latin typeface="Calibri" pitchFamily="34" charset="0"/>
                <a:ea typeface="Calibri" pitchFamily="34" charset="-122"/>
                <a:cs typeface="Calibri" pitchFamily="34" charset="-120"/>
              </a:rPr>
              <a:t>People in rural Nepal and across South Asia lack access to trained medical professionals for initial triage. Symptoms go undiagnosed, minor conditions escalate, and emergencies are missed because no guidance is available at the first point of contact.</a:t>
            </a:r>
            <a:endParaRPr lang="en-US" sz="1050" dirty="0"/>
          </a:p>
        </p:txBody>
      </p:sp>
      <p:sp>
        <p:nvSpPr>
          <p:cNvPr id="17" name="Text 15"/>
          <p:cNvSpPr/>
          <p:nvPr/>
        </p:nvSpPr>
        <p:spPr>
          <a:xfrm>
            <a:off x="3383280" y="2788920"/>
            <a:ext cx="2651760" cy="256032"/>
          </a:xfrm>
          <a:prstGeom prst="rect">
            <a:avLst/>
          </a:prstGeom>
          <a:noFill/>
          <a:ln/>
        </p:spPr>
        <p:txBody>
          <a:bodyPr wrap="square" lIns="0" tIns="0" rIns="0" bIns="0" rtlCol="0" anchor="ctr"/>
          <a:lstStyle/>
          <a:p>
            <a:pPr marL="0" indent="0">
              <a:buNone/>
            </a:pPr>
            <a:r>
              <a:rPr lang="en-US" sz="1200" b="1" dirty="0">
                <a:solidFill>
                  <a:srgbClr val="D97706"/>
                </a:solidFill>
                <a:latin typeface="Calibri" pitchFamily="34" charset="0"/>
                <a:ea typeface="Calibri" pitchFamily="34" charset="-122"/>
                <a:cs typeface="Calibri" pitchFamily="34" charset="-120"/>
              </a:rPr>
              <a:t>What's Missing</a:t>
            </a:r>
            <a:endParaRPr lang="en-US" sz="1200" dirty="0"/>
          </a:p>
        </p:txBody>
      </p:sp>
      <p:sp>
        <p:nvSpPr>
          <p:cNvPr id="18" name="Text 16"/>
          <p:cNvSpPr/>
          <p:nvPr/>
        </p:nvSpPr>
        <p:spPr>
          <a:xfrm>
            <a:off x="3360420" y="2692908"/>
            <a:ext cx="2651760" cy="1691640"/>
          </a:xfrm>
          <a:prstGeom prst="rect">
            <a:avLst/>
          </a:prstGeom>
          <a:noFill/>
          <a:ln/>
        </p:spPr>
        <p:txBody>
          <a:bodyPr wrap="square" lIns="0" tIns="0" rIns="0" bIns="0" rtlCol="0" anchor="ctr"/>
          <a:lstStyle/>
          <a:p>
            <a:pPr marL="0" indent="0">
              <a:buNone/>
            </a:pPr>
            <a:r>
              <a:rPr lang="en-US" sz="1050" dirty="0">
                <a:solidFill>
                  <a:srgbClr val="555555"/>
                </a:solidFill>
                <a:latin typeface="Calibri" pitchFamily="34" charset="0"/>
                <a:ea typeface="Calibri" pitchFamily="34" charset="-122"/>
                <a:cs typeface="Calibri" pitchFamily="34" charset="-120"/>
              </a:rPr>
              <a:t>No voice-based triage for low-literacy users. No medicine label scanner. No SOS tied to medical history. No tools built for Nepali language or local context.</a:t>
            </a:r>
            <a:endParaRPr lang="en-US" sz="1050" dirty="0"/>
          </a:p>
        </p:txBody>
      </p:sp>
      <p:sp>
        <p:nvSpPr>
          <p:cNvPr id="19" name="Text 17"/>
          <p:cNvSpPr/>
          <p:nvPr/>
        </p:nvSpPr>
        <p:spPr>
          <a:xfrm>
            <a:off x="6263640" y="2788920"/>
            <a:ext cx="2651760" cy="256032"/>
          </a:xfrm>
          <a:prstGeom prst="rect">
            <a:avLst/>
          </a:prstGeom>
          <a:noFill/>
          <a:ln/>
        </p:spPr>
        <p:txBody>
          <a:bodyPr wrap="square" lIns="0" tIns="0" rIns="0" bIns="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Our Solution</a:t>
            </a:r>
            <a:endParaRPr lang="en-US" sz="1200" dirty="0"/>
          </a:p>
        </p:txBody>
      </p:sp>
      <p:sp>
        <p:nvSpPr>
          <p:cNvPr id="20" name="Text 18"/>
          <p:cNvSpPr/>
          <p:nvPr/>
        </p:nvSpPr>
        <p:spPr>
          <a:xfrm>
            <a:off x="6263640" y="2671572"/>
            <a:ext cx="2651760" cy="1691640"/>
          </a:xfrm>
          <a:prstGeom prst="rect">
            <a:avLst/>
          </a:prstGeom>
          <a:noFill/>
          <a:ln/>
        </p:spPr>
        <p:txBody>
          <a:bodyPr wrap="square" lIns="0" tIns="0" rIns="0" bIns="0" rtlCol="0" anchor="ctr"/>
          <a:lstStyle/>
          <a:p>
            <a:pPr marL="0" indent="0">
              <a:buNone/>
            </a:pPr>
            <a:r>
              <a:rPr lang="en-US" sz="1050" dirty="0">
                <a:solidFill>
                  <a:srgbClr val="555555"/>
                </a:solidFill>
                <a:latin typeface="Calibri" pitchFamily="34" charset="0"/>
                <a:ea typeface="Calibri" pitchFamily="34" charset="-122"/>
                <a:cs typeface="Calibri" pitchFamily="34" charset="-120"/>
              </a:rPr>
              <a:t>An AI health companion using GPT-5.4, voice I/O, vision AI, real-time alerts, and SOS — delivering instant structured triage in Nepali, from any smartphone.</a:t>
            </a:r>
            <a:endParaRPr lang="en-US" sz="1050" dirty="0"/>
          </a:p>
        </p:txBody>
      </p:sp>
      <p:sp>
        <p:nvSpPr>
          <p:cNvPr id="21" name="Text 19"/>
          <p:cNvSpPr/>
          <p:nvPr/>
        </p:nvSpPr>
        <p:spPr>
          <a:xfrm>
            <a:off x="0" y="4869180"/>
            <a:ext cx="9144000" cy="256032"/>
          </a:xfrm>
          <a:prstGeom prst="rect">
            <a:avLst/>
          </a:prstGeom>
          <a:noFill/>
          <a:ln/>
        </p:spPr>
        <p:txBody>
          <a:bodyPr wrap="square" rtlCol="0" anchor="ctr"/>
          <a:lstStyle/>
          <a:p>
            <a:pPr marL="0" indent="0" algn="r">
              <a:buNone/>
            </a:pPr>
            <a:r>
              <a:rPr lang="en-US" sz="850" dirty="0">
                <a:solidFill>
                  <a:srgbClr val="E8E8E8"/>
                </a:solidFill>
                <a:latin typeface="Calibri" pitchFamily="34" charset="0"/>
                <a:ea typeface="Calibri" pitchFamily="34" charset="-122"/>
                <a:cs typeface="Calibri" pitchFamily="34" charset="-120"/>
              </a:rPr>
              <a:t>02 / 08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01168"/>
            <a:ext cx="7315200" cy="201168"/>
          </a:xfrm>
          <a:prstGeom prst="rect">
            <a:avLst/>
          </a:prstGeom>
          <a:noFill/>
          <a:ln/>
        </p:spPr>
        <p:txBody>
          <a:bodyPr wrap="square" lIns="0" tIns="0" rIns="0" bIns="0" rtlCol="0" anchor="ctr"/>
          <a:lstStyle/>
          <a:p>
            <a:pPr marL="0" indent="0">
              <a:buNone/>
            </a:pPr>
            <a:r>
              <a:rPr lang="en-US" sz="1200" b="1" kern="0" spc="300" dirty="0">
                <a:latin typeface="Cambria" panose="02040503050406030204" pitchFamily="18" charset="0"/>
                <a:ea typeface="Cambria" panose="02040503050406030204" pitchFamily="18" charset="0"/>
                <a:cs typeface="Calibri" pitchFamily="34" charset="-120"/>
              </a:rPr>
              <a:t>FEATURES</a:t>
            </a:r>
            <a:endParaRPr lang="en-US" sz="1200" dirty="0">
              <a:latin typeface="Cambria" panose="02040503050406030204" pitchFamily="18" charset="0"/>
              <a:ea typeface="Cambria" panose="02040503050406030204" pitchFamily="18" charset="0"/>
            </a:endParaRPr>
          </a:p>
        </p:txBody>
      </p:sp>
      <p:sp>
        <p:nvSpPr>
          <p:cNvPr id="4" name="Text 2"/>
          <p:cNvSpPr/>
          <p:nvPr/>
        </p:nvSpPr>
        <p:spPr>
          <a:xfrm>
            <a:off x="502920" y="420624"/>
            <a:ext cx="8229600" cy="530352"/>
          </a:xfrm>
          <a:prstGeom prst="rect">
            <a:avLst/>
          </a:prstGeom>
          <a:noFill/>
          <a:ln/>
        </p:spPr>
        <p:txBody>
          <a:bodyPr wrap="square" lIns="0" tIns="0" rIns="0" bIns="0" rtlCol="0" anchor="ctr"/>
          <a:lstStyle/>
          <a:p>
            <a:pPr marL="0" indent="0">
              <a:buNone/>
            </a:pPr>
            <a:r>
              <a:rPr lang="en-US" sz="2600" b="1" dirty="0">
                <a:solidFill>
                  <a:srgbClr val="111111"/>
                </a:solidFill>
                <a:latin typeface="Calibri" pitchFamily="34" charset="0"/>
                <a:ea typeface="Calibri" pitchFamily="34" charset="-122"/>
                <a:cs typeface="Calibri" pitchFamily="34" charset="-120"/>
              </a:rPr>
              <a:t>10 features. One unified health companion.</a:t>
            </a:r>
            <a:endParaRPr lang="en-US" sz="2600" dirty="0"/>
          </a:p>
        </p:txBody>
      </p:sp>
      <p:sp>
        <p:nvSpPr>
          <p:cNvPr id="5" name="Shape 3"/>
          <p:cNvSpPr/>
          <p:nvPr/>
        </p:nvSpPr>
        <p:spPr>
          <a:xfrm>
            <a:off x="502920" y="1024128"/>
            <a:ext cx="8138160" cy="13716"/>
          </a:xfrm>
          <a:prstGeom prst="rect">
            <a:avLst/>
          </a:prstGeom>
          <a:solidFill>
            <a:srgbClr val="E8E8E8"/>
          </a:solidFill>
          <a:ln w="12700">
            <a:solidFill>
              <a:srgbClr val="E8E8E8"/>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502920" y="1225296"/>
            <a:ext cx="274320" cy="274320"/>
          </a:xfrm>
          <a:prstGeom prst="rect">
            <a:avLst/>
          </a:prstGeom>
        </p:spPr>
      </p:pic>
      <p:sp>
        <p:nvSpPr>
          <p:cNvPr id="7" name="Text 4"/>
          <p:cNvSpPr/>
          <p:nvPr/>
        </p:nvSpPr>
        <p:spPr>
          <a:xfrm>
            <a:off x="905256" y="1170432"/>
            <a:ext cx="3749040" cy="237744"/>
          </a:xfrm>
          <a:prstGeom prst="rect">
            <a:avLst/>
          </a:prstGeom>
          <a:noFill/>
          <a:ln/>
        </p:spPr>
        <p:txBody>
          <a:bodyPr wrap="square" lIns="0" tIns="0" rIns="0" bIns="0" rtlCol="0" anchor="ctr"/>
          <a:lstStyle/>
          <a:p>
            <a:pPr marL="0" indent="0">
              <a:buNone/>
            </a:pPr>
            <a:r>
              <a:rPr lang="en-US" sz="1150" b="1" dirty="0">
                <a:solidFill>
                  <a:srgbClr val="111111"/>
                </a:solidFill>
                <a:latin typeface="Calibri" pitchFamily="34" charset="0"/>
                <a:ea typeface="Calibri" pitchFamily="34" charset="-122"/>
                <a:cs typeface="Calibri" pitchFamily="34" charset="-120"/>
              </a:rPr>
              <a:t>1. AI Diagnosis</a:t>
            </a:r>
            <a:endParaRPr lang="en-US" sz="1150" dirty="0"/>
          </a:p>
        </p:txBody>
      </p:sp>
      <p:sp>
        <p:nvSpPr>
          <p:cNvPr id="8" name="Text 5"/>
          <p:cNvSpPr/>
          <p:nvPr/>
        </p:nvSpPr>
        <p:spPr>
          <a:xfrm>
            <a:off x="905256" y="1417320"/>
            <a:ext cx="3749040" cy="347472"/>
          </a:xfrm>
          <a:prstGeom prst="rect">
            <a:avLst/>
          </a:prstGeom>
          <a:noFill/>
          <a:ln/>
        </p:spPr>
        <p:txBody>
          <a:bodyPr wrap="square" lIns="0" tIns="0" rIns="0" bIns="0" rtlCol="0" anchor="ctr"/>
          <a:lstStyle/>
          <a:p>
            <a:pPr marL="0" indent="0">
              <a:buNone/>
            </a:pPr>
            <a:r>
              <a:rPr lang="en-US" sz="950" dirty="0">
                <a:solidFill>
                  <a:srgbClr val="999999"/>
                </a:solidFill>
                <a:latin typeface="Calibri" pitchFamily="34" charset="0"/>
                <a:ea typeface="Calibri" pitchFamily="34" charset="-122"/>
                <a:cs typeface="Calibri" pitchFamily="34" charset="-120"/>
              </a:rPr>
              <a:t>GPT-5.4 analyzes symptoms, classifies urgency (Emergency / Urgent / Routine), and provides differential conditions.</a:t>
            </a:r>
            <a:endParaRPr lang="en-US" sz="950" dirty="0"/>
          </a:p>
        </p:txBody>
      </p:sp>
      <p:sp>
        <p:nvSpPr>
          <p:cNvPr id="9" name="Shape 6"/>
          <p:cNvSpPr/>
          <p:nvPr/>
        </p:nvSpPr>
        <p:spPr>
          <a:xfrm>
            <a:off x="502920" y="1828800"/>
            <a:ext cx="3931920" cy="9144"/>
          </a:xfrm>
          <a:prstGeom prst="rect">
            <a:avLst/>
          </a:prstGeom>
          <a:solidFill>
            <a:srgbClr val="E8E8E8"/>
          </a:solidFill>
          <a:ln w="12700">
            <a:solidFill>
              <a:srgbClr val="E8E8E8"/>
            </a:solidFill>
            <a:prstDash val="solid"/>
          </a:ln>
        </p:spPr>
        <p:txBody>
          <a:bodyPr/>
          <a:lstStyle/>
          <a:p>
            <a:endParaRPr lang="en-US"/>
          </a:p>
        </p:txBody>
      </p:sp>
      <p:pic>
        <p:nvPicPr>
          <p:cNvPr id="10" name="Image 1" descr="preencoded.png"/>
          <p:cNvPicPr>
            <a:picLocks noChangeAspect="1"/>
          </p:cNvPicPr>
          <p:nvPr/>
        </p:nvPicPr>
        <p:blipFill>
          <a:blip r:embed="rId4"/>
          <a:stretch>
            <a:fillRect/>
          </a:stretch>
        </p:blipFill>
        <p:spPr>
          <a:xfrm>
            <a:off x="4846320" y="1225296"/>
            <a:ext cx="274320" cy="274320"/>
          </a:xfrm>
          <a:prstGeom prst="rect">
            <a:avLst/>
          </a:prstGeom>
        </p:spPr>
      </p:pic>
      <p:sp>
        <p:nvSpPr>
          <p:cNvPr id="11" name="Text 7"/>
          <p:cNvSpPr/>
          <p:nvPr/>
        </p:nvSpPr>
        <p:spPr>
          <a:xfrm>
            <a:off x="5248656" y="1170432"/>
            <a:ext cx="3749040" cy="237744"/>
          </a:xfrm>
          <a:prstGeom prst="rect">
            <a:avLst/>
          </a:prstGeom>
          <a:noFill/>
          <a:ln/>
        </p:spPr>
        <p:txBody>
          <a:bodyPr wrap="square" lIns="0" tIns="0" rIns="0" bIns="0" rtlCol="0" anchor="ctr"/>
          <a:lstStyle/>
          <a:p>
            <a:pPr marL="0" indent="0">
              <a:buNone/>
            </a:pPr>
            <a:r>
              <a:rPr lang="en-US" sz="1150" b="1" dirty="0">
                <a:solidFill>
                  <a:srgbClr val="111111"/>
                </a:solidFill>
                <a:latin typeface="Calibri" pitchFamily="34" charset="0"/>
                <a:ea typeface="Calibri" pitchFamily="34" charset="-122"/>
                <a:cs typeface="Calibri" pitchFamily="34" charset="-120"/>
              </a:rPr>
              <a:t>2. Report Scan</a:t>
            </a:r>
            <a:endParaRPr lang="en-US" sz="1150" dirty="0"/>
          </a:p>
        </p:txBody>
      </p:sp>
      <p:sp>
        <p:nvSpPr>
          <p:cNvPr id="12" name="Text 8"/>
          <p:cNvSpPr/>
          <p:nvPr/>
        </p:nvSpPr>
        <p:spPr>
          <a:xfrm>
            <a:off x="5248656" y="1417320"/>
            <a:ext cx="3749040" cy="347472"/>
          </a:xfrm>
          <a:prstGeom prst="rect">
            <a:avLst/>
          </a:prstGeom>
          <a:noFill/>
          <a:ln/>
        </p:spPr>
        <p:txBody>
          <a:bodyPr wrap="square" lIns="0" tIns="0" rIns="0" bIns="0" rtlCol="0" anchor="ctr"/>
          <a:lstStyle/>
          <a:p>
            <a:pPr marL="0" indent="0">
              <a:buNone/>
            </a:pPr>
            <a:r>
              <a:rPr lang="en-US" sz="950" dirty="0">
                <a:solidFill>
                  <a:srgbClr val="999999"/>
                </a:solidFill>
                <a:latin typeface="Calibri" pitchFamily="34" charset="0"/>
                <a:ea typeface="Calibri" pitchFamily="34" charset="-122"/>
                <a:cs typeface="Calibri" pitchFamily="34" charset="-120"/>
              </a:rPr>
              <a:t>Photograph any medical report — AI summarises it in plain language.</a:t>
            </a:r>
            <a:endParaRPr lang="en-US" sz="950" dirty="0"/>
          </a:p>
        </p:txBody>
      </p:sp>
      <p:sp>
        <p:nvSpPr>
          <p:cNvPr id="13" name="Shape 9"/>
          <p:cNvSpPr/>
          <p:nvPr/>
        </p:nvSpPr>
        <p:spPr>
          <a:xfrm>
            <a:off x="4846320" y="1828800"/>
            <a:ext cx="3931920" cy="9144"/>
          </a:xfrm>
          <a:prstGeom prst="rect">
            <a:avLst/>
          </a:prstGeom>
          <a:solidFill>
            <a:srgbClr val="E8E8E8"/>
          </a:solidFill>
          <a:ln w="12700">
            <a:solidFill>
              <a:srgbClr val="E8E8E8"/>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502920" y="1975104"/>
            <a:ext cx="274320" cy="274320"/>
          </a:xfrm>
          <a:prstGeom prst="rect">
            <a:avLst/>
          </a:prstGeom>
        </p:spPr>
      </p:pic>
      <p:sp>
        <p:nvSpPr>
          <p:cNvPr id="15" name="Text 10"/>
          <p:cNvSpPr/>
          <p:nvPr/>
        </p:nvSpPr>
        <p:spPr>
          <a:xfrm>
            <a:off x="905256" y="1920240"/>
            <a:ext cx="3749040" cy="237744"/>
          </a:xfrm>
          <a:prstGeom prst="rect">
            <a:avLst/>
          </a:prstGeom>
          <a:noFill/>
          <a:ln/>
        </p:spPr>
        <p:txBody>
          <a:bodyPr wrap="square" lIns="0" tIns="0" rIns="0" bIns="0" rtlCol="0" anchor="ctr"/>
          <a:lstStyle/>
          <a:p>
            <a:pPr marL="0" indent="0">
              <a:buNone/>
            </a:pPr>
            <a:r>
              <a:rPr lang="en-US" sz="1150" b="1" dirty="0">
                <a:solidFill>
                  <a:srgbClr val="111111"/>
                </a:solidFill>
                <a:latin typeface="Calibri" pitchFamily="34" charset="0"/>
                <a:ea typeface="Calibri" pitchFamily="34" charset="-122"/>
                <a:cs typeface="Calibri" pitchFamily="34" charset="-120"/>
              </a:rPr>
              <a:t>3. Medicine Detection</a:t>
            </a:r>
            <a:endParaRPr lang="en-US" sz="1150" dirty="0"/>
          </a:p>
        </p:txBody>
      </p:sp>
      <p:sp>
        <p:nvSpPr>
          <p:cNvPr id="16" name="Text 11"/>
          <p:cNvSpPr/>
          <p:nvPr/>
        </p:nvSpPr>
        <p:spPr>
          <a:xfrm>
            <a:off x="905256" y="2167128"/>
            <a:ext cx="3749040" cy="347472"/>
          </a:xfrm>
          <a:prstGeom prst="rect">
            <a:avLst/>
          </a:prstGeom>
          <a:noFill/>
          <a:ln/>
        </p:spPr>
        <p:txBody>
          <a:bodyPr wrap="square" lIns="0" tIns="0" rIns="0" bIns="0" rtlCol="0" anchor="ctr"/>
          <a:lstStyle/>
          <a:p>
            <a:pPr marL="0" indent="0">
              <a:buNone/>
            </a:pPr>
            <a:r>
              <a:rPr lang="en-US" sz="950" dirty="0">
                <a:solidFill>
                  <a:srgbClr val="999999"/>
                </a:solidFill>
                <a:latin typeface="Calibri" pitchFamily="34" charset="0"/>
                <a:ea typeface="Calibri" pitchFamily="34" charset="-122"/>
                <a:cs typeface="Calibri" pitchFamily="34" charset="-120"/>
              </a:rPr>
              <a:t>Snap a medicine photo: drug name, dosage, side effects, interactions.</a:t>
            </a:r>
            <a:endParaRPr lang="en-US" sz="950" dirty="0"/>
          </a:p>
        </p:txBody>
      </p:sp>
      <p:sp>
        <p:nvSpPr>
          <p:cNvPr id="17" name="Shape 12"/>
          <p:cNvSpPr/>
          <p:nvPr/>
        </p:nvSpPr>
        <p:spPr>
          <a:xfrm>
            <a:off x="502920" y="2578608"/>
            <a:ext cx="3931920" cy="9144"/>
          </a:xfrm>
          <a:prstGeom prst="rect">
            <a:avLst/>
          </a:prstGeom>
          <a:solidFill>
            <a:srgbClr val="E8E8E8"/>
          </a:solidFill>
          <a:ln w="12700">
            <a:solidFill>
              <a:srgbClr val="E8E8E8"/>
            </a:solidFill>
            <a:prstDash val="solid"/>
          </a:ln>
        </p:spPr>
        <p:txBody>
          <a:bodyPr/>
          <a:lstStyle/>
          <a:p>
            <a:endParaRPr lang="en-US"/>
          </a:p>
        </p:txBody>
      </p:sp>
      <p:pic>
        <p:nvPicPr>
          <p:cNvPr id="18" name="Image 3" descr="preencoded.png"/>
          <p:cNvPicPr>
            <a:picLocks noChangeAspect="1"/>
          </p:cNvPicPr>
          <p:nvPr/>
        </p:nvPicPr>
        <p:blipFill>
          <a:blip r:embed="rId6"/>
          <a:stretch>
            <a:fillRect/>
          </a:stretch>
        </p:blipFill>
        <p:spPr>
          <a:xfrm>
            <a:off x="4846320" y="1975104"/>
            <a:ext cx="274320" cy="274320"/>
          </a:xfrm>
          <a:prstGeom prst="rect">
            <a:avLst/>
          </a:prstGeom>
        </p:spPr>
      </p:pic>
      <p:sp>
        <p:nvSpPr>
          <p:cNvPr id="19" name="Text 13"/>
          <p:cNvSpPr/>
          <p:nvPr/>
        </p:nvSpPr>
        <p:spPr>
          <a:xfrm>
            <a:off x="5248656" y="1920240"/>
            <a:ext cx="3749040" cy="237744"/>
          </a:xfrm>
          <a:prstGeom prst="rect">
            <a:avLst/>
          </a:prstGeom>
          <a:noFill/>
          <a:ln/>
        </p:spPr>
        <p:txBody>
          <a:bodyPr wrap="square" lIns="0" tIns="0" rIns="0" bIns="0" rtlCol="0" anchor="ctr"/>
          <a:lstStyle/>
          <a:p>
            <a:pPr marL="0" indent="0">
              <a:buNone/>
            </a:pPr>
            <a:r>
              <a:rPr lang="en-US" sz="1150" b="1" dirty="0">
                <a:solidFill>
                  <a:srgbClr val="111111"/>
                </a:solidFill>
                <a:latin typeface="Calibri" pitchFamily="34" charset="0"/>
                <a:ea typeface="Calibri" pitchFamily="34" charset="-122"/>
                <a:cs typeface="Calibri" pitchFamily="34" charset="-120"/>
              </a:rPr>
              <a:t>4. Nearby Hospitals</a:t>
            </a:r>
            <a:endParaRPr lang="en-US" sz="1150" dirty="0"/>
          </a:p>
        </p:txBody>
      </p:sp>
      <p:sp>
        <p:nvSpPr>
          <p:cNvPr id="20" name="Text 14"/>
          <p:cNvSpPr/>
          <p:nvPr/>
        </p:nvSpPr>
        <p:spPr>
          <a:xfrm>
            <a:off x="5248656" y="2167128"/>
            <a:ext cx="3749040" cy="347472"/>
          </a:xfrm>
          <a:prstGeom prst="rect">
            <a:avLst/>
          </a:prstGeom>
          <a:noFill/>
          <a:ln/>
        </p:spPr>
        <p:txBody>
          <a:bodyPr wrap="square" lIns="0" tIns="0" rIns="0" bIns="0" rtlCol="0" anchor="ctr"/>
          <a:lstStyle/>
          <a:p>
            <a:pPr marL="0" indent="0">
              <a:buNone/>
            </a:pPr>
            <a:r>
              <a:rPr lang="en-US" sz="950" dirty="0">
                <a:solidFill>
                  <a:srgbClr val="999999"/>
                </a:solidFill>
                <a:latin typeface="Calibri" pitchFamily="34" charset="0"/>
                <a:ea typeface="Calibri" pitchFamily="34" charset="-122"/>
                <a:cs typeface="Calibri" pitchFamily="34" charset="-120"/>
              </a:rPr>
              <a:t>GPS-filtered search by urgency level. One-tap directions.</a:t>
            </a:r>
            <a:endParaRPr lang="en-US" sz="950" dirty="0"/>
          </a:p>
        </p:txBody>
      </p:sp>
      <p:sp>
        <p:nvSpPr>
          <p:cNvPr id="21" name="Shape 15"/>
          <p:cNvSpPr/>
          <p:nvPr/>
        </p:nvSpPr>
        <p:spPr>
          <a:xfrm>
            <a:off x="4846320" y="2578608"/>
            <a:ext cx="3931920" cy="9144"/>
          </a:xfrm>
          <a:prstGeom prst="rect">
            <a:avLst/>
          </a:prstGeom>
          <a:solidFill>
            <a:srgbClr val="E8E8E8"/>
          </a:solidFill>
          <a:ln w="12700">
            <a:solidFill>
              <a:srgbClr val="E8E8E8"/>
            </a:solidFill>
            <a:prstDash val="solid"/>
          </a:ln>
        </p:spPr>
        <p:txBody>
          <a:bodyPr/>
          <a:lstStyle/>
          <a:p>
            <a:endParaRPr lang="en-US"/>
          </a:p>
        </p:txBody>
      </p:sp>
      <p:pic>
        <p:nvPicPr>
          <p:cNvPr id="22" name="Image 4" descr="preencoded.png"/>
          <p:cNvPicPr>
            <a:picLocks noChangeAspect="1"/>
          </p:cNvPicPr>
          <p:nvPr/>
        </p:nvPicPr>
        <p:blipFill>
          <a:blip r:embed="rId7"/>
          <a:stretch>
            <a:fillRect/>
          </a:stretch>
        </p:blipFill>
        <p:spPr>
          <a:xfrm>
            <a:off x="502920" y="2724912"/>
            <a:ext cx="274320" cy="274320"/>
          </a:xfrm>
          <a:prstGeom prst="rect">
            <a:avLst/>
          </a:prstGeom>
        </p:spPr>
      </p:pic>
      <p:sp>
        <p:nvSpPr>
          <p:cNvPr id="23" name="Text 16"/>
          <p:cNvSpPr/>
          <p:nvPr/>
        </p:nvSpPr>
        <p:spPr>
          <a:xfrm>
            <a:off x="905256" y="2670048"/>
            <a:ext cx="3749040" cy="237744"/>
          </a:xfrm>
          <a:prstGeom prst="rect">
            <a:avLst/>
          </a:prstGeom>
          <a:noFill/>
          <a:ln/>
        </p:spPr>
        <p:txBody>
          <a:bodyPr wrap="square" lIns="0" tIns="0" rIns="0" bIns="0" rtlCol="0" anchor="ctr"/>
          <a:lstStyle/>
          <a:p>
            <a:pPr marL="0" indent="0">
              <a:buNone/>
            </a:pPr>
            <a:r>
              <a:rPr lang="en-US" sz="1150" b="1" dirty="0">
                <a:solidFill>
                  <a:srgbClr val="111111"/>
                </a:solidFill>
                <a:latin typeface="Calibri" pitchFamily="34" charset="0"/>
                <a:ea typeface="Calibri" pitchFamily="34" charset="-122"/>
                <a:cs typeface="Calibri" pitchFamily="34" charset="-120"/>
              </a:rPr>
              <a:t>5. Disease Alert</a:t>
            </a:r>
            <a:endParaRPr lang="en-US" sz="1150" dirty="0"/>
          </a:p>
        </p:txBody>
      </p:sp>
      <p:sp>
        <p:nvSpPr>
          <p:cNvPr id="24" name="Text 17"/>
          <p:cNvSpPr/>
          <p:nvPr/>
        </p:nvSpPr>
        <p:spPr>
          <a:xfrm>
            <a:off x="905256" y="2916936"/>
            <a:ext cx="3749040" cy="347472"/>
          </a:xfrm>
          <a:prstGeom prst="rect">
            <a:avLst/>
          </a:prstGeom>
          <a:noFill/>
          <a:ln/>
        </p:spPr>
        <p:txBody>
          <a:bodyPr wrap="square" lIns="0" tIns="0" rIns="0" bIns="0" rtlCol="0" anchor="ctr"/>
          <a:lstStyle/>
          <a:p>
            <a:pPr marL="0" indent="0">
              <a:buNone/>
            </a:pPr>
            <a:r>
              <a:rPr lang="en-US" sz="950" dirty="0">
                <a:solidFill>
                  <a:srgbClr val="999999"/>
                </a:solidFill>
                <a:latin typeface="Calibri" pitchFamily="34" charset="0"/>
                <a:ea typeface="Calibri" pitchFamily="34" charset="-122"/>
                <a:cs typeface="Calibri" pitchFamily="34" charset="-120"/>
              </a:rPr>
              <a:t>Real-time outbreak monitoring and WHO advisories for your location.</a:t>
            </a:r>
            <a:endParaRPr lang="en-US" sz="950" dirty="0"/>
          </a:p>
        </p:txBody>
      </p:sp>
      <p:sp>
        <p:nvSpPr>
          <p:cNvPr id="25" name="Shape 18"/>
          <p:cNvSpPr/>
          <p:nvPr/>
        </p:nvSpPr>
        <p:spPr>
          <a:xfrm>
            <a:off x="502920" y="3328416"/>
            <a:ext cx="3931920" cy="9144"/>
          </a:xfrm>
          <a:prstGeom prst="rect">
            <a:avLst/>
          </a:prstGeom>
          <a:solidFill>
            <a:srgbClr val="E8E8E8"/>
          </a:solidFill>
          <a:ln w="12700">
            <a:solidFill>
              <a:srgbClr val="E8E8E8"/>
            </a:solidFill>
            <a:prstDash val="solid"/>
          </a:ln>
        </p:spPr>
        <p:txBody>
          <a:bodyPr/>
          <a:lstStyle/>
          <a:p>
            <a:endParaRPr lang="en-US"/>
          </a:p>
        </p:txBody>
      </p:sp>
      <p:pic>
        <p:nvPicPr>
          <p:cNvPr id="26" name="Image 5" descr="preencoded.png"/>
          <p:cNvPicPr>
            <a:picLocks noChangeAspect="1"/>
          </p:cNvPicPr>
          <p:nvPr/>
        </p:nvPicPr>
        <p:blipFill>
          <a:blip r:embed="rId8"/>
          <a:stretch>
            <a:fillRect/>
          </a:stretch>
        </p:blipFill>
        <p:spPr>
          <a:xfrm>
            <a:off x="4846320" y="2724912"/>
            <a:ext cx="274320" cy="274320"/>
          </a:xfrm>
          <a:prstGeom prst="rect">
            <a:avLst/>
          </a:prstGeom>
        </p:spPr>
      </p:pic>
      <p:sp>
        <p:nvSpPr>
          <p:cNvPr id="27" name="Text 19"/>
          <p:cNvSpPr/>
          <p:nvPr/>
        </p:nvSpPr>
        <p:spPr>
          <a:xfrm>
            <a:off x="5248656" y="2670048"/>
            <a:ext cx="3749040" cy="237744"/>
          </a:xfrm>
          <a:prstGeom prst="rect">
            <a:avLst/>
          </a:prstGeom>
          <a:noFill/>
          <a:ln/>
        </p:spPr>
        <p:txBody>
          <a:bodyPr wrap="square" lIns="0" tIns="0" rIns="0" bIns="0" rtlCol="0" anchor="ctr"/>
          <a:lstStyle/>
          <a:p>
            <a:pPr marL="0" indent="0">
              <a:buNone/>
            </a:pPr>
            <a:r>
              <a:rPr lang="en-US" sz="1150" b="1" dirty="0">
                <a:solidFill>
                  <a:srgbClr val="111111"/>
                </a:solidFill>
                <a:latin typeface="Calibri" pitchFamily="34" charset="0"/>
                <a:ea typeface="Calibri" pitchFamily="34" charset="-122"/>
                <a:cs typeface="Calibri" pitchFamily="34" charset="-120"/>
              </a:rPr>
              <a:t>6. SOS Emergency</a:t>
            </a:r>
            <a:endParaRPr lang="en-US" sz="1150" dirty="0"/>
          </a:p>
        </p:txBody>
      </p:sp>
      <p:sp>
        <p:nvSpPr>
          <p:cNvPr id="28" name="Text 20"/>
          <p:cNvSpPr/>
          <p:nvPr/>
        </p:nvSpPr>
        <p:spPr>
          <a:xfrm>
            <a:off x="5248656" y="2916936"/>
            <a:ext cx="3749040" cy="347472"/>
          </a:xfrm>
          <a:prstGeom prst="rect">
            <a:avLst/>
          </a:prstGeom>
          <a:noFill/>
          <a:ln/>
        </p:spPr>
        <p:txBody>
          <a:bodyPr wrap="square" lIns="0" tIns="0" rIns="0" bIns="0" rtlCol="0" anchor="ctr"/>
          <a:lstStyle/>
          <a:p>
            <a:pPr marL="0" indent="0">
              <a:buNone/>
            </a:pPr>
            <a:r>
              <a:rPr lang="en-US" sz="950" dirty="0">
                <a:solidFill>
                  <a:srgbClr val="999999"/>
                </a:solidFill>
                <a:latin typeface="Calibri" pitchFamily="34" charset="0"/>
                <a:ea typeface="Calibri" pitchFamily="34" charset="-122"/>
                <a:cs typeface="Calibri" pitchFamily="34" charset="-120"/>
              </a:rPr>
              <a:t>One tap sends live GPS + symptoms + history to contacts and services.</a:t>
            </a:r>
            <a:endParaRPr lang="en-US" sz="950" dirty="0"/>
          </a:p>
        </p:txBody>
      </p:sp>
      <p:sp>
        <p:nvSpPr>
          <p:cNvPr id="29" name="Shape 21"/>
          <p:cNvSpPr/>
          <p:nvPr/>
        </p:nvSpPr>
        <p:spPr>
          <a:xfrm>
            <a:off x="4846320" y="3328416"/>
            <a:ext cx="3931920" cy="9144"/>
          </a:xfrm>
          <a:prstGeom prst="rect">
            <a:avLst/>
          </a:prstGeom>
          <a:solidFill>
            <a:srgbClr val="E8E8E8"/>
          </a:solidFill>
          <a:ln w="12700">
            <a:solidFill>
              <a:srgbClr val="E8E8E8"/>
            </a:solidFill>
            <a:prstDash val="solid"/>
          </a:ln>
        </p:spPr>
        <p:txBody>
          <a:bodyPr/>
          <a:lstStyle/>
          <a:p>
            <a:endParaRPr lang="en-US"/>
          </a:p>
        </p:txBody>
      </p:sp>
      <p:pic>
        <p:nvPicPr>
          <p:cNvPr id="30" name="Image 6" descr="preencoded.png"/>
          <p:cNvPicPr>
            <a:picLocks noChangeAspect="1"/>
          </p:cNvPicPr>
          <p:nvPr/>
        </p:nvPicPr>
        <p:blipFill>
          <a:blip r:embed="rId9"/>
          <a:stretch>
            <a:fillRect/>
          </a:stretch>
        </p:blipFill>
        <p:spPr>
          <a:xfrm>
            <a:off x="502920" y="3474720"/>
            <a:ext cx="274320" cy="274320"/>
          </a:xfrm>
          <a:prstGeom prst="rect">
            <a:avLst/>
          </a:prstGeom>
        </p:spPr>
      </p:pic>
      <p:sp>
        <p:nvSpPr>
          <p:cNvPr id="31" name="Text 22"/>
          <p:cNvSpPr/>
          <p:nvPr/>
        </p:nvSpPr>
        <p:spPr>
          <a:xfrm>
            <a:off x="905256" y="3419856"/>
            <a:ext cx="3749040" cy="237744"/>
          </a:xfrm>
          <a:prstGeom prst="rect">
            <a:avLst/>
          </a:prstGeom>
          <a:noFill/>
          <a:ln/>
        </p:spPr>
        <p:txBody>
          <a:bodyPr wrap="square" lIns="0" tIns="0" rIns="0" bIns="0" rtlCol="0" anchor="ctr"/>
          <a:lstStyle/>
          <a:p>
            <a:pPr marL="0" indent="0">
              <a:buNone/>
            </a:pPr>
            <a:r>
              <a:rPr lang="en-US" sz="1150" b="1" dirty="0">
                <a:solidFill>
                  <a:srgbClr val="111111"/>
                </a:solidFill>
                <a:latin typeface="Calibri" pitchFamily="34" charset="0"/>
                <a:ea typeface="Calibri" pitchFamily="34" charset="-122"/>
                <a:cs typeface="Calibri" pitchFamily="34" charset="-120"/>
              </a:rPr>
              <a:t>7. Health History</a:t>
            </a:r>
            <a:endParaRPr lang="en-US" sz="1150" dirty="0"/>
          </a:p>
        </p:txBody>
      </p:sp>
      <p:sp>
        <p:nvSpPr>
          <p:cNvPr id="32" name="Text 23"/>
          <p:cNvSpPr/>
          <p:nvPr/>
        </p:nvSpPr>
        <p:spPr>
          <a:xfrm>
            <a:off x="905256" y="3666744"/>
            <a:ext cx="3749040" cy="347472"/>
          </a:xfrm>
          <a:prstGeom prst="rect">
            <a:avLst/>
          </a:prstGeom>
          <a:noFill/>
          <a:ln/>
        </p:spPr>
        <p:txBody>
          <a:bodyPr wrap="square" lIns="0" tIns="0" rIns="0" bIns="0" rtlCol="0" anchor="ctr"/>
          <a:lstStyle/>
          <a:p>
            <a:pPr marL="0" indent="0">
              <a:buNone/>
            </a:pPr>
            <a:r>
              <a:rPr lang="en-US" sz="950" dirty="0">
                <a:solidFill>
                  <a:srgbClr val="999999"/>
                </a:solidFill>
                <a:latin typeface="Calibri" pitchFamily="34" charset="0"/>
                <a:ea typeface="Calibri" pitchFamily="34" charset="-122"/>
                <a:cs typeface="Calibri" pitchFamily="34" charset="-120"/>
              </a:rPr>
              <a:t>Persistent consultation records — shareable as a portable medical record.</a:t>
            </a:r>
            <a:endParaRPr lang="en-US" sz="950" dirty="0"/>
          </a:p>
        </p:txBody>
      </p:sp>
      <p:sp>
        <p:nvSpPr>
          <p:cNvPr id="33" name="Shape 24"/>
          <p:cNvSpPr/>
          <p:nvPr/>
        </p:nvSpPr>
        <p:spPr>
          <a:xfrm>
            <a:off x="502920" y="4078224"/>
            <a:ext cx="3931920" cy="9144"/>
          </a:xfrm>
          <a:prstGeom prst="rect">
            <a:avLst/>
          </a:prstGeom>
          <a:solidFill>
            <a:srgbClr val="E8E8E8"/>
          </a:solidFill>
          <a:ln w="12700">
            <a:solidFill>
              <a:srgbClr val="E8E8E8"/>
            </a:solidFill>
            <a:prstDash val="solid"/>
          </a:ln>
        </p:spPr>
        <p:txBody>
          <a:bodyPr/>
          <a:lstStyle/>
          <a:p>
            <a:endParaRPr lang="en-US"/>
          </a:p>
        </p:txBody>
      </p:sp>
      <p:pic>
        <p:nvPicPr>
          <p:cNvPr id="34" name="Image 7" descr="preencoded.png"/>
          <p:cNvPicPr>
            <a:picLocks noChangeAspect="1"/>
          </p:cNvPicPr>
          <p:nvPr/>
        </p:nvPicPr>
        <p:blipFill>
          <a:blip r:embed="rId10"/>
          <a:stretch>
            <a:fillRect/>
          </a:stretch>
        </p:blipFill>
        <p:spPr>
          <a:xfrm>
            <a:off x="4846320" y="3474720"/>
            <a:ext cx="274320" cy="274320"/>
          </a:xfrm>
          <a:prstGeom prst="rect">
            <a:avLst/>
          </a:prstGeom>
        </p:spPr>
      </p:pic>
      <p:sp>
        <p:nvSpPr>
          <p:cNvPr id="35" name="Text 25"/>
          <p:cNvSpPr/>
          <p:nvPr/>
        </p:nvSpPr>
        <p:spPr>
          <a:xfrm>
            <a:off x="5248656" y="3419856"/>
            <a:ext cx="3749040" cy="237744"/>
          </a:xfrm>
          <a:prstGeom prst="rect">
            <a:avLst/>
          </a:prstGeom>
          <a:noFill/>
          <a:ln/>
        </p:spPr>
        <p:txBody>
          <a:bodyPr wrap="square" lIns="0" tIns="0" rIns="0" bIns="0" rtlCol="0" anchor="ctr"/>
          <a:lstStyle/>
          <a:p>
            <a:pPr marL="0" indent="0">
              <a:buNone/>
            </a:pPr>
            <a:r>
              <a:rPr lang="en-US" sz="1150" b="1" dirty="0">
                <a:solidFill>
                  <a:srgbClr val="111111"/>
                </a:solidFill>
                <a:latin typeface="Calibri" pitchFamily="34" charset="0"/>
                <a:ea typeface="Calibri" pitchFamily="34" charset="-122"/>
                <a:cs typeface="Calibri" pitchFamily="34" charset="-120"/>
              </a:rPr>
              <a:t>8. Multilingual</a:t>
            </a:r>
            <a:endParaRPr lang="en-US" sz="1150" dirty="0"/>
          </a:p>
        </p:txBody>
      </p:sp>
      <p:sp>
        <p:nvSpPr>
          <p:cNvPr id="36" name="Text 26"/>
          <p:cNvSpPr/>
          <p:nvPr/>
        </p:nvSpPr>
        <p:spPr>
          <a:xfrm>
            <a:off x="5248656" y="3666744"/>
            <a:ext cx="3749040" cy="347472"/>
          </a:xfrm>
          <a:prstGeom prst="rect">
            <a:avLst/>
          </a:prstGeom>
          <a:noFill/>
          <a:ln/>
        </p:spPr>
        <p:txBody>
          <a:bodyPr wrap="square" lIns="0" tIns="0" rIns="0" bIns="0" rtlCol="0" anchor="ctr"/>
          <a:lstStyle/>
          <a:p>
            <a:pPr marL="0" indent="0">
              <a:buNone/>
            </a:pPr>
            <a:r>
              <a:rPr lang="en-US" sz="950" dirty="0">
                <a:solidFill>
                  <a:srgbClr val="999999"/>
                </a:solidFill>
                <a:latin typeface="Calibri" pitchFamily="34" charset="0"/>
                <a:ea typeface="Calibri" pitchFamily="34" charset="-122"/>
                <a:cs typeface="Calibri" pitchFamily="34" charset="-120"/>
              </a:rPr>
              <a:t>Native Nepali, and English across voice, text, and UI.</a:t>
            </a:r>
            <a:endParaRPr lang="en-US" sz="950" dirty="0"/>
          </a:p>
        </p:txBody>
      </p:sp>
      <p:sp>
        <p:nvSpPr>
          <p:cNvPr id="37" name="Shape 27"/>
          <p:cNvSpPr/>
          <p:nvPr/>
        </p:nvSpPr>
        <p:spPr>
          <a:xfrm>
            <a:off x="4846320" y="4078224"/>
            <a:ext cx="3931920" cy="9144"/>
          </a:xfrm>
          <a:prstGeom prst="rect">
            <a:avLst/>
          </a:prstGeom>
          <a:solidFill>
            <a:srgbClr val="E8E8E8"/>
          </a:solidFill>
          <a:ln w="12700">
            <a:solidFill>
              <a:srgbClr val="E8E8E8"/>
            </a:solidFill>
            <a:prstDash val="solid"/>
          </a:ln>
        </p:spPr>
        <p:txBody>
          <a:bodyPr/>
          <a:lstStyle/>
          <a:p>
            <a:endParaRPr lang="en-US"/>
          </a:p>
        </p:txBody>
      </p:sp>
      <p:pic>
        <p:nvPicPr>
          <p:cNvPr id="38" name="Image 8" descr="preencoded.png"/>
          <p:cNvPicPr>
            <a:picLocks noChangeAspect="1"/>
          </p:cNvPicPr>
          <p:nvPr/>
        </p:nvPicPr>
        <p:blipFill>
          <a:blip r:embed="rId11"/>
          <a:stretch>
            <a:fillRect/>
          </a:stretch>
        </p:blipFill>
        <p:spPr>
          <a:xfrm>
            <a:off x="502920" y="4224528"/>
            <a:ext cx="274320" cy="274320"/>
          </a:xfrm>
          <a:prstGeom prst="rect">
            <a:avLst/>
          </a:prstGeom>
        </p:spPr>
      </p:pic>
      <p:sp>
        <p:nvSpPr>
          <p:cNvPr id="39" name="Text 28"/>
          <p:cNvSpPr/>
          <p:nvPr/>
        </p:nvSpPr>
        <p:spPr>
          <a:xfrm>
            <a:off x="905256" y="4169664"/>
            <a:ext cx="3749040" cy="237744"/>
          </a:xfrm>
          <a:prstGeom prst="rect">
            <a:avLst/>
          </a:prstGeom>
          <a:noFill/>
          <a:ln/>
        </p:spPr>
        <p:txBody>
          <a:bodyPr wrap="square" lIns="0" tIns="0" rIns="0" bIns="0" rtlCol="0" anchor="ctr"/>
          <a:lstStyle/>
          <a:p>
            <a:pPr marL="0" indent="0">
              <a:buNone/>
            </a:pPr>
            <a:r>
              <a:rPr lang="en-US" sz="1150" b="1" dirty="0">
                <a:solidFill>
                  <a:srgbClr val="111111"/>
                </a:solidFill>
                <a:latin typeface="Calibri" pitchFamily="34" charset="0"/>
                <a:ea typeface="Calibri" pitchFamily="34" charset="-122"/>
                <a:cs typeface="Calibri" pitchFamily="34" charset="-120"/>
              </a:rPr>
              <a:t>9. Emergency Contacts</a:t>
            </a:r>
            <a:endParaRPr lang="en-US" sz="1150" dirty="0"/>
          </a:p>
        </p:txBody>
      </p:sp>
      <p:sp>
        <p:nvSpPr>
          <p:cNvPr id="40" name="Text 29"/>
          <p:cNvSpPr/>
          <p:nvPr/>
        </p:nvSpPr>
        <p:spPr>
          <a:xfrm>
            <a:off x="905256" y="4416552"/>
            <a:ext cx="3749040" cy="347472"/>
          </a:xfrm>
          <a:prstGeom prst="rect">
            <a:avLst/>
          </a:prstGeom>
          <a:noFill/>
          <a:ln/>
        </p:spPr>
        <p:txBody>
          <a:bodyPr wrap="square" lIns="0" tIns="0" rIns="0" bIns="0" rtlCol="0" anchor="ctr"/>
          <a:lstStyle/>
          <a:p>
            <a:pPr marL="0" indent="0">
              <a:buNone/>
            </a:pPr>
            <a:r>
              <a:rPr lang="en-US" sz="950" dirty="0">
                <a:solidFill>
                  <a:srgbClr val="999999"/>
                </a:solidFill>
                <a:latin typeface="Calibri" pitchFamily="34" charset="0"/>
                <a:ea typeface="Calibri" pitchFamily="34" charset="-122"/>
                <a:cs typeface="Calibri" pitchFamily="34" charset="-120"/>
              </a:rPr>
              <a:t>Pre-registered contacts auto-notified via SMS during any emergency.</a:t>
            </a:r>
            <a:endParaRPr lang="en-US" sz="950" dirty="0"/>
          </a:p>
        </p:txBody>
      </p:sp>
      <p:pic>
        <p:nvPicPr>
          <p:cNvPr id="41" name="Image 9" descr="preencoded.png"/>
          <p:cNvPicPr>
            <a:picLocks noChangeAspect="1"/>
          </p:cNvPicPr>
          <p:nvPr/>
        </p:nvPicPr>
        <p:blipFill>
          <a:blip r:embed="rId12"/>
          <a:stretch>
            <a:fillRect/>
          </a:stretch>
        </p:blipFill>
        <p:spPr>
          <a:xfrm>
            <a:off x="4846320" y="4224528"/>
            <a:ext cx="274320" cy="274320"/>
          </a:xfrm>
          <a:prstGeom prst="rect">
            <a:avLst/>
          </a:prstGeom>
        </p:spPr>
      </p:pic>
      <p:sp>
        <p:nvSpPr>
          <p:cNvPr id="42" name="Text 30"/>
          <p:cNvSpPr/>
          <p:nvPr/>
        </p:nvSpPr>
        <p:spPr>
          <a:xfrm>
            <a:off x="5248656" y="4169664"/>
            <a:ext cx="3749040" cy="237744"/>
          </a:xfrm>
          <a:prstGeom prst="rect">
            <a:avLst/>
          </a:prstGeom>
          <a:noFill/>
          <a:ln/>
        </p:spPr>
        <p:txBody>
          <a:bodyPr wrap="square" lIns="0" tIns="0" rIns="0" bIns="0" rtlCol="0" anchor="ctr"/>
          <a:lstStyle/>
          <a:p>
            <a:pPr marL="0" indent="0">
              <a:buNone/>
            </a:pPr>
            <a:r>
              <a:rPr lang="en-US" sz="1150" b="1" dirty="0">
                <a:solidFill>
                  <a:srgbClr val="111111"/>
                </a:solidFill>
                <a:latin typeface="Calibri" pitchFamily="34" charset="0"/>
                <a:ea typeface="Calibri" pitchFamily="34" charset="-122"/>
                <a:cs typeface="Calibri" pitchFamily="34" charset="-120"/>
              </a:rPr>
              <a:t>10. Voice Input &amp; Output</a:t>
            </a:r>
            <a:endParaRPr lang="en-US" sz="1150" dirty="0"/>
          </a:p>
        </p:txBody>
      </p:sp>
      <p:sp>
        <p:nvSpPr>
          <p:cNvPr id="43" name="Text 31"/>
          <p:cNvSpPr/>
          <p:nvPr/>
        </p:nvSpPr>
        <p:spPr>
          <a:xfrm>
            <a:off x="5248656" y="4416552"/>
            <a:ext cx="3749040" cy="347472"/>
          </a:xfrm>
          <a:prstGeom prst="rect">
            <a:avLst/>
          </a:prstGeom>
          <a:noFill/>
          <a:ln/>
        </p:spPr>
        <p:txBody>
          <a:bodyPr wrap="square" lIns="0" tIns="0" rIns="0" bIns="0" rtlCol="0" anchor="ctr"/>
          <a:lstStyle/>
          <a:p>
            <a:pPr marL="0" indent="0">
              <a:buNone/>
            </a:pPr>
            <a:r>
              <a:rPr lang="en-US" sz="950" dirty="0">
                <a:solidFill>
                  <a:srgbClr val="999999"/>
                </a:solidFill>
                <a:latin typeface="Calibri" pitchFamily="34" charset="0"/>
                <a:ea typeface="Calibri" pitchFamily="34" charset="-122"/>
                <a:cs typeface="Calibri" pitchFamily="34" charset="-120"/>
              </a:rPr>
              <a:t>Speak symptoms, receive spoken diagnosis. Hands-free STT + TTS pipeline.</a:t>
            </a:r>
            <a:endParaRPr lang="en-US" sz="950" dirty="0"/>
          </a:p>
        </p:txBody>
      </p:sp>
      <p:sp>
        <p:nvSpPr>
          <p:cNvPr id="44" name="Text 32"/>
          <p:cNvSpPr/>
          <p:nvPr/>
        </p:nvSpPr>
        <p:spPr>
          <a:xfrm>
            <a:off x="0" y="4869180"/>
            <a:ext cx="9144000" cy="256032"/>
          </a:xfrm>
          <a:prstGeom prst="rect">
            <a:avLst/>
          </a:prstGeom>
          <a:noFill/>
          <a:ln/>
        </p:spPr>
        <p:txBody>
          <a:bodyPr wrap="square" rtlCol="0" anchor="ctr"/>
          <a:lstStyle/>
          <a:p>
            <a:pPr marL="0" indent="0" algn="r">
              <a:buNone/>
            </a:pPr>
            <a:r>
              <a:rPr lang="en-US" sz="850" dirty="0">
                <a:solidFill>
                  <a:srgbClr val="E8E8E8"/>
                </a:solidFill>
                <a:latin typeface="Calibri" pitchFamily="34" charset="0"/>
                <a:ea typeface="Calibri" pitchFamily="34" charset="-122"/>
                <a:cs typeface="Calibri" pitchFamily="34" charset="-120"/>
              </a:rPr>
              <a:t>03 / 08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01168"/>
            <a:ext cx="7315200" cy="201168"/>
          </a:xfrm>
          <a:prstGeom prst="rect">
            <a:avLst/>
          </a:prstGeom>
          <a:noFill/>
          <a:ln/>
        </p:spPr>
        <p:txBody>
          <a:bodyPr wrap="square" lIns="0" tIns="0" rIns="0" bIns="0" rtlCol="0" anchor="ctr"/>
          <a:lstStyle/>
          <a:p>
            <a:pPr marL="0" indent="0">
              <a:buNone/>
            </a:pPr>
            <a:r>
              <a:rPr lang="en-US" sz="850" b="1" kern="0" spc="300" dirty="0">
                <a:solidFill>
                  <a:srgbClr val="999999"/>
                </a:solidFill>
                <a:latin typeface="Calibri" pitchFamily="34" charset="0"/>
                <a:ea typeface="Calibri" pitchFamily="34" charset="-122"/>
                <a:cs typeface="Calibri" pitchFamily="34" charset="-120"/>
              </a:rPr>
              <a:t>UNIQUE VALUE PROPOSITION</a:t>
            </a:r>
            <a:endParaRPr lang="en-US" sz="850" dirty="0"/>
          </a:p>
        </p:txBody>
      </p:sp>
      <p:sp>
        <p:nvSpPr>
          <p:cNvPr id="4" name="Text 2"/>
          <p:cNvSpPr/>
          <p:nvPr/>
        </p:nvSpPr>
        <p:spPr>
          <a:xfrm>
            <a:off x="502920" y="420624"/>
            <a:ext cx="8229600" cy="530352"/>
          </a:xfrm>
          <a:prstGeom prst="rect">
            <a:avLst/>
          </a:prstGeom>
          <a:noFill/>
          <a:ln/>
        </p:spPr>
        <p:txBody>
          <a:bodyPr wrap="square" lIns="0" tIns="0" rIns="0" bIns="0" rtlCol="0" anchor="ctr"/>
          <a:lstStyle/>
          <a:p>
            <a:pPr marL="0" indent="0">
              <a:buNone/>
            </a:pPr>
            <a:r>
              <a:rPr lang="en-US" sz="2600" b="1" dirty="0">
                <a:solidFill>
                  <a:srgbClr val="111111"/>
                </a:solidFill>
                <a:latin typeface="Calibri" pitchFamily="34" charset="0"/>
                <a:ea typeface="Calibri" pitchFamily="34" charset="-122"/>
                <a:cs typeface="Calibri" pitchFamily="34" charset="-120"/>
              </a:rPr>
              <a:t>Why not just use ChatGPT or Gemini?</a:t>
            </a:r>
            <a:endParaRPr lang="en-US" sz="2600" dirty="0"/>
          </a:p>
        </p:txBody>
      </p:sp>
      <p:sp>
        <p:nvSpPr>
          <p:cNvPr id="5" name="Shape 3"/>
          <p:cNvSpPr/>
          <p:nvPr/>
        </p:nvSpPr>
        <p:spPr>
          <a:xfrm>
            <a:off x="502920" y="1024128"/>
            <a:ext cx="8138160" cy="13716"/>
          </a:xfrm>
          <a:prstGeom prst="rect">
            <a:avLst/>
          </a:prstGeom>
          <a:solidFill>
            <a:srgbClr val="E8E8E8"/>
          </a:solidFill>
          <a:ln w="12700">
            <a:solidFill>
              <a:srgbClr val="E8E8E8"/>
            </a:solidFill>
            <a:prstDash val="solid"/>
          </a:ln>
        </p:spPr>
        <p:txBody>
          <a:bodyPr/>
          <a:lstStyle/>
          <a:p>
            <a:endParaRPr lang="en-US"/>
          </a:p>
        </p:txBody>
      </p:sp>
      <p:sp>
        <p:nvSpPr>
          <p:cNvPr id="6" name="Text 4"/>
          <p:cNvSpPr/>
          <p:nvPr/>
        </p:nvSpPr>
        <p:spPr>
          <a:xfrm>
            <a:off x="502920" y="1115568"/>
            <a:ext cx="2395728" cy="274320"/>
          </a:xfrm>
          <a:prstGeom prst="rect">
            <a:avLst/>
          </a:prstGeom>
          <a:noFill/>
          <a:ln/>
        </p:spPr>
        <p:txBody>
          <a:bodyPr wrap="square" lIns="0" tIns="0" rIns="0" bIns="0" rtlCol="0" anchor="ctr"/>
          <a:lstStyle/>
          <a:p>
            <a:pPr marL="0" indent="0">
              <a:buNone/>
            </a:pPr>
            <a:r>
              <a:rPr lang="en-US" sz="950" b="1" dirty="0">
                <a:solidFill>
                  <a:srgbClr val="999999"/>
                </a:solidFill>
                <a:latin typeface="Calibri" pitchFamily="34" charset="0"/>
                <a:ea typeface="Calibri" pitchFamily="34" charset="-122"/>
                <a:cs typeface="Calibri" pitchFamily="34" charset="-120"/>
              </a:rPr>
              <a:t>Capability</a:t>
            </a:r>
            <a:endParaRPr lang="en-US" sz="950" dirty="0"/>
          </a:p>
        </p:txBody>
      </p:sp>
      <p:sp>
        <p:nvSpPr>
          <p:cNvPr id="7" name="Text 5"/>
          <p:cNvSpPr/>
          <p:nvPr/>
        </p:nvSpPr>
        <p:spPr>
          <a:xfrm>
            <a:off x="2898648" y="1115568"/>
            <a:ext cx="1353312" cy="274320"/>
          </a:xfrm>
          <a:prstGeom prst="rect">
            <a:avLst/>
          </a:prstGeom>
          <a:noFill/>
          <a:ln/>
        </p:spPr>
        <p:txBody>
          <a:bodyPr wrap="square" lIns="0" tIns="0" rIns="0" bIns="0" rtlCol="0" anchor="ctr"/>
          <a:lstStyle/>
          <a:p>
            <a:pPr marL="0" indent="0">
              <a:buNone/>
            </a:pPr>
            <a:r>
              <a:rPr lang="en-US" sz="950" b="1" dirty="0">
                <a:solidFill>
                  <a:srgbClr val="999999"/>
                </a:solidFill>
                <a:latin typeface="Calibri" pitchFamily="34" charset="0"/>
                <a:ea typeface="Calibri" pitchFamily="34" charset="-122"/>
                <a:cs typeface="Calibri" pitchFamily="34" charset="-120"/>
              </a:rPr>
              <a:t>ChatGPT</a:t>
            </a:r>
            <a:endParaRPr lang="en-US" sz="950" dirty="0"/>
          </a:p>
        </p:txBody>
      </p:sp>
      <p:sp>
        <p:nvSpPr>
          <p:cNvPr id="8" name="Text 6"/>
          <p:cNvSpPr/>
          <p:nvPr/>
        </p:nvSpPr>
        <p:spPr>
          <a:xfrm>
            <a:off x="4251960" y="1115568"/>
            <a:ext cx="1353312" cy="274320"/>
          </a:xfrm>
          <a:prstGeom prst="rect">
            <a:avLst/>
          </a:prstGeom>
          <a:noFill/>
          <a:ln/>
        </p:spPr>
        <p:txBody>
          <a:bodyPr wrap="square" lIns="0" tIns="0" rIns="0" bIns="0" rtlCol="0" anchor="ctr"/>
          <a:lstStyle/>
          <a:p>
            <a:pPr marL="0" indent="0">
              <a:buNone/>
            </a:pPr>
            <a:r>
              <a:rPr lang="en-US" sz="950" b="1" dirty="0">
                <a:solidFill>
                  <a:srgbClr val="999999"/>
                </a:solidFill>
                <a:latin typeface="Calibri" pitchFamily="34" charset="0"/>
                <a:ea typeface="Calibri" pitchFamily="34" charset="-122"/>
                <a:cs typeface="Calibri" pitchFamily="34" charset="-120"/>
              </a:rPr>
              <a:t>Gemini</a:t>
            </a:r>
            <a:endParaRPr lang="en-US" sz="950" dirty="0"/>
          </a:p>
        </p:txBody>
      </p:sp>
      <p:sp>
        <p:nvSpPr>
          <p:cNvPr id="9" name="Text 7"/>
          <p:cNvSpPr/>
          <p:nvPr/>
        </p:nvSpPr>
        <p:spPr>
          <a:xfrm>
            <a:off x="5605272" y="1115568"/>
            <a:ext cx="1353312" cy="274320"/>
          </a:xfrm>
          <a:prstGeom prst="rect">
            <a:avLst/>
          </a:prstGeom>
          <a:noFill/>
          <a:ln/>
        </p:spPr>
        <p:txBody>
          <a:bodyPr wrap="square" lIns="0" tIns="0" rIns="0" bIns="0" rtlCol="0" anchor="ctr"/>
          <a:lstStyle/>
          <a:p>
            <a:pPr marL="0" indent="0">
              <a:buNone/>
            </a:pPr>
            <a:r>
              <a:rPr lang="en-US" sz="950" b="1" dirty="0">
                <a:solidFill>
                  <a:srgbClr val="999999"/>
                </a:solidFill>
                <a:latin typeface="Calibri" pitchFamily="34" charset="0"/>
                <a:ea typeface="Calibri" pitchFamily="34" charset="-122"/>
                <a:cs typeface="Calibri" pitchFamily="34" charset="-120"/>
              </a:rPr>
              <a:t>Google</a:t>
            </a:r>
            <a:endParaRPr lang="en-US" sz="950" dirty="0"/>
          </a:p>
        </p:txBody>
      </p:sp>
      <p:sp>
        <p:nvSpPr>
          <p:cNvPr id="10" name="Text 8"/>
          <p:cNvSpPr/>
          <p:nvPr/>
        </p:nvSpPr>
        <p:spPr>
          <a:xfrm>
            <a:off x="6958584" y="1115568"/>
            <a:ext cx="2139696" cy="274320"/>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Our App</a:t>
            </a:r>
            <a:endParaRPr lang="en-US" sz="950" dirty="0"/>
          </a:p>
        </p:txBody>
      </p:sp>
      <p:sp>
        <p:nvSpPr>
          <p:cNvPr id="11" name="Shape 9"/>
          <p:cNvSpPr/>
          <p:nvPr/>
        </p:nvSpPr>
        <p:spPr>
          <a:xfrm>
            <a:off x="6958584" y="1389888"/>
            <a:ext cx="2139696" cy="18288"/>
          </a:xfrm>
          <a:prstGeom prst="rect">
            <a:avLst/>
          </a:prstGeom>
          <a:solidFill>
            <a:srgbClr val="0D9488"/>
          </a:solidFill>
          <a:ln w="12700">
            <a:solidFill>
              <a:srgbClr val="0D9488"/>
            </a:solidFill>
            <a:prstDash val="solid"/>
          </a:ln>
        </p:spPr>
        <p:txBody>
          <a:bodyPr/>
          <a:lstStyle/>
          <a:p>
            <a:endParaRPr lang="en-US"/>
          </a:p>
        </p:txBody>
      </p:sp>
      <p:sp>
        <p:nvSpPr>
          <p:cNvPr id="12" name="Shape 10"/>
          <p:cNvSpPr/>
          <p:nvPr/>
        </p:nvSpPr>
        <p:spPr>
          <a:xfrm>
            <a:off x="502920" y="1408176"/>
            <a:ext cx="8138160" cy="13716"/>
          </a:xfrm>
          <a:prstGeom prst="rect">
            <a:avLst/>
          </a:prstGeom>
          <a:solidFill>
            <a:srgbClr val="E8E8E8"/>
          </a:solidFill>
          <a:ln w="12700">
            <a:solidFill>
              <a:srgbClr val="E8E8E8"/>
            </a:solidFill>
            <a:prstDash val="solid"/>
          </a:ln>
        </p:spPr>
        <p:txBody>
          <a:bodyPr/>
          <a:lstStyle/>
          <a:p>
            <a:endParaRPr lang="en-US"/>
          </a:p>
        </p:txBody>
      </p:sp>
      <p:sp>
        <p:nvSpPr>
          <p:cNvPr id="13" name="Shape 11"/>
          <p:cNvSpPr/>
          <p:nvPr/>
        </p:nvSpPr>
        <p:spPr>
          <a:xfrm>
            <a:off x="502920" y="1463040"/>
            <a:ext cx="8458200" cy="347472"/>
          </a:xfrm>
          <a:prstGeom prst="rect">
            <a:avLst/>
          </a:prstGeom>
          <a:solidFill>
            <a:srgbClr val="FFFFFF"/>
          </a:solidFill>
          <a:ln w="12700">
            <a:solidFill>
              <a:srgbClr val="E8E8E8"/>
            </a:solidFill>
            <a:prstDash val="solid"/>
          </a:ln>
        </p:spPr>
        <p:txBody>
          <a:bodyPr/>
          <a:lstStyle/>
          <a:p>
            <a:endParaRPr lang="en-US"/>
          </a:p>
        </p:txBody>
      </p:sp>
      <p:sp>
        <p:nvSpPr>
          <p:cNvPr id="14" name="Text 12"/>
          <p:cNvSpPr/>
          <p:nvPr/>
        </p:nvSpPr>
        <p:spPr>
          <a:xfrm>
            <a:off x="576072" y="1463040"/>
            <a:ext cx="2304288" cy="347472"/>
          </a:xfrm>
          <a:prstGeom prst="rect">
            <a:avLst/>
          </a:prstGeom>
          <a:noFill/>
          <a:ln/>
        </p:spPr>
        <p:txBody>
          <a:bodyPr wrap="square" lIns="0" tIns="0" rIns="0" bIns="0" rtlCol="0" anchor="ctr"/>
          <a:lstStyle/>
          <a:p>
            <a:pPr marL="0" indent="0">
              <a:buNone/>
            </a:pPr>
            <a:r>
              <a:rPr lang="en-US" sz="1000" b="1" dirty="0">
                <a:solidFill>
                  <a:srgbClr val="111111"/>
                </a:solidFill>
                <a:latin typeface="Calibri" pitchFamily="34" charset="0"/>
                <a:ea typeface="Calibri" pitchFamily="34" charset="-122"/>
                <a:cs typeface="Calibri" pitchFamily="34" charset="-120"/>
              </a:rPr>
              <a:t>Health triage logic</a:t>
            </a:r>
            <a:endParaRPr lang="en-US" sz="1000" dirty="0"/>
          </a:p>
        </p:txBody>
      </p:sp>
      <p:sp>
        <p:nvSpPr>
          <p:cNvPr id="15" name="Text 13"/>
          <p:cNvSpPr/>
          <p:nvPr/>
        </p:nvSpPr>
        <p:spPr>
          <a:xfrm>
            <a:off x="2971800" y="1463040"/>
            <a:ext cx="1261872" cy="347472"/>
          </a:xfrm>
          <a:prstGeom prst="rect">
            <a:avLst/>
          </a:prstGeom>
          <a:noFill/>
          <a:ln/>
        </p:spPr>
        <p:txBody>
          <a:bodyPr wrap="square" lIns="0" tIns="0" rIns="0" bIns="0" rtlCol="0" anchor="ctr"/>
          <a:lstStyle/>
          <a:p>
            <a:pPr marL="0" indent="0">
              <a:buNone/>
            </a:pPr>
            <a:r>
              <a:rPr lang="en-US" sz="950" dirty="0">
                <a:solidFill>
                  <a:srgbClr val="DC2626"/>
                </a:solidFill>
                <a:latin typeface="Calibri" pitchFamily="34" charset="0"/>
                <a:ea typeface="Calibri" pitchFamily="34" charset="-122"/>
                <a:cs typeface="Calibri" pitchFamily="34" charset="-120"/>
              </a:rPr>
              <a:t>✗ Generic</a:t>
            </a:r>
            <a:endParaRPr lang="en-US" sz="950" dirty="0"/>
          </a:p>
        </p:txBody>
      </p:sp>
      <p:sp>
        <p:nvSpPr>
          <p:cNvPr id="16" name="Text 14"/>
          <p:cNvSpPr/>
          <p:nvPr/>
        </p:nvSpPr>
        <p:spPr>
          <a:xfrm>
            <a:off x="4325112" y="1463040"/>
            <a:ext cx="1261872" cy="347472"/>
          </a:xfrm>
          <a:prstGeom prst="rect">
            <a:avLst/>
          </a:prstGeom>
          <a:noFill/>
          <a:ln/>
        </p:spPr>
        <p:txBody>
          <a:bodyPr wrap="square" lIns="0" tIns="0" rIns="0" bIns="0" rtlCol="0" anchor="ctr"/>
          <a:lstStyle/>
          <a:p>
            <a:pPr marL="0" indent="0">
              <a:buNone/>
            </a:pPr>
            <a:r>
              <a:rPr lang="en-US" sz="950" dirty="0">
                <a:solidFill>
                  <a:srgbClr val="DC2626"/>
                </a:solidFill>
                <a:latin typeface="Calibri" pitchFamily="34" charset="0"/>
                <a:ea typeface="Calibri" pitchFamily="34" charset="-122"/>
                <a:cs typeface="Calibri" pitchFamily="34" charset="-120"/>
              </a:rPr>
              <a:t>✗ Generic</a:t>
            </a:r>
            <a:endParaRPr lang="en-US" sz="950" dirty="0"/>
          </a:p>
        </p:txBody>
      </p:sp>
      <p:sp>
        <p:nvSpPr>
          <p:cNvPr id="17" name="Text 15"/>
          <p:cNvSpPr/>
          <p:nvPr/>
        </p:nvSpPr>
        <p:spPr>
          <a:xfrm>
            <a:off x="5678424" y="1463040"/>
            <a:ext cx="1261872" cy="347472"/>
          </a:xfrm>
          <a:prstGeom prst="rect">
            <a:avLst/>
          </a:prstGeom>
          <a:noFill/>
          <a:ln/>
        </p:spPr>
        <p:txBody>
          <a:bodyPr wrap="square" lIns="0" tIns="0" rIns="0" bIns="0" rtlCol="0" anchor="ctr"/>
          <a:lstStyle/>
          <a:p>
            <a:pPr marL="0" indent="0">
              <a:buNone/>
            </a:pPr>
            <a:r>
              <a:rPr lang="en-US" sz="950" dirty="0">
                <a:solidFill>
                  <a:srgbClr val="DC2626"/>
                </a:solidFill>
                <a:latin typeface="Calibri" pitchFamily="34" charset="0"/>
                <a:ea typeface="Calibri" pitchFamily="34" charset="-122"/>
                <a:cs typeface="Calibri" pitchFamily="34" charset="-120"/>
              </a:rPr>
              <a:t>✗ Links</a:t>
            </a:r>
            <a:endParaRPr lang="en-US" sz="950" dirty="0"/>
          </a:p>
        </p:txBody>
      </p:sp>
      <p:sp>
        <p:nvSpPr>
          <p:cNvPr id="18" name="Text 16"/>
          <p:cNvSpPr/>
          <p:nvPr/>
        </p:nvSpPr>
        <p:spPr>
          <a:xfrm>
            <a:off x="7031736" y="1463040"/>
            <a:ext cx="2048256" cy="34747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 Emergency / Urgent / Routine</a:t>
            </a:r>
            <a:endParaRPr lang="en-US" sz="950" dirty="0"/>
          </a:p>
        </p:txBody>
      </p:sp>
      <p:sp>
        <p:nvSpPr>
          <p:cNvPr id="19" name="Shape 17"/>
          <p:cNvSpPr/>
          <p:nvPr/>
        </p:nvSpPr>
        <p:spPr>
          <a:xfrm>
            <a:off x="502920" y="1810512"/>
            <a:ext cx="8458200" cy="347472"/>
          </a:xfrm>
          <a:prstGeom prst="rect">
            <a:avLst/>
          </a:prstGeom>
          <a:solidFill>
            <a:srgbClr val="FAFAFA"/>
          </a:solidFill>
          <a:ln w="12700">
            <a:solidFill>
              <a:srgbClr val="E8E8E8"/>
            </a:solidFill>
            <a:prstDash val="solid"/>
          </a:ln>
        </p:spPr>
        <p:txBody>
          <a:bodyPr/>
          <a:lstStyle/>
          <a:p>
            <a:endParaRPr lang="en-US"/>
          </a:p>
        </p:txBody>
      </p:sp>
      <p:sp>
        <p:nvSpPr>
          <p:cNvPr id="20" name="Text 18"/>
          <p:cNvSpPr/>
          <p:nvPr/>
        </p:nvSpPr>
        <p:spPr>
          <a:xfrm>
            <a:off x="576072" y="1810512"/>
            <a:ext cx="2304288" cy="347472"/>
          </a:xfrm>
          <a:prstGeom prst="rect">
            <a:avLst/>
          </a:prstGeom>
          <a:noFill/>
          <a:ln/>
        </p:spPr>
        <p:txBody>
          <a:bodyPr wrap="square" lIns="0" tIns="0" rIns="0" bIns="0" rtlCol="0" anchor="ctr"/>
          <a:lstStyle/>
          <a:p>
            <a:pPr marL="0" indent="0">
              <a:buNone/>
            </a:pPr>
            <a:r>
              <a:rPr lang="en-US" sz="1000" b="1" dirty="0">
                <a:solidFill>
                  <a:srgbClr val="111111"/>
                </a:solidFill>
                <a:latin typeface="Calibri" pitchFamily="34" charset="0"/>
                <a:ea typeface="Calibri" pitchFamily="34" charset="-122"/>
                <a:cs typeface="Calibri" pitchFamily="34" charset="-120"/>
              </a:rPr>
              <a:t>Voice input &amp; spoken output</a:t>
            </a:r>
            <a:endParaRPr lang="en-US" sz="1000" dirty="0"/>
          </a:p>
        </p:txBody>
      </p:sp>
      <p:sp>
        <p:nvSpPr>
          <p:cNvPr id="21" name="Text 19"/>
          <p:cNvSpPr/>
          <p:nvPr/>
        </p:nvSpPr>
        <p:spPr>
          <a:xfrm>
            <a:off x="2971800" y="1810512"/>
            <a:ext cx="1261872" cy="347472"/>
          </a:xfrm>
          <a:prstGeom prst="rect">
            <a:avLst/>
          </a:prstGeom>
          <a:noFill/>
          <a:ln/>
        </p:spPr>
        <p:txBody>
          <a:bodyPr wrap="square" lIns="0" tIns="0" rIns="0" bIns="0" rtlCol="0" anchor="ctr"/>
          <a:lstStyle/>
          <a:p>
            <a:pPr marL="0" indent="0">
              <a:buNone/>
            </a:pPr>
            <a:r>
              <a:rPr lang="en-US" sz="950" dirty="0">
                <a:solidFill>
                  <a:srgbClr val="D97706"/>
                </a:solidFill>
                <a:latin typeface="Calibri" pitchFamily="34" charset="0"/>
                <a:ea typeface="Calibri" pitchFamily="34" charset="-122"/>
                <a:cs typeface="Calibri" pitchFamily="34" charset="-120"/>
              </a:rPr>
              <a:t>~ App only</a:t>
            </a:r>
            <a:endParaRPr lang="en-US" sz="950" dirty="0"/>
          </a:p>
        </p:txBody>
      </p:sp>
      <p:sp>
        <p:nvSpPr>
          <p:cNvPr id="22" name="Text 20"/>
          <p:cNvSpPr/>
          <p:nvPr/>
        </p:nvSpPr>
        <p:spPr>
          <a:xfrm>
            <a:off x="4325112" y="1810512"/>
            <a:ext cx="1261872" cy="347472"/>
          </a:xfrm>
          <a:prstGeom prst="rect">
            <a:avLst/>
          </a:prstGeom>
          <a:noFill/>
          <a:ln/>
        </p:spPr>
        <p:txBody>
          <a:bodyPr wrap="square" lIns="0" tIns="0" rIns="0" bIns="0" rtlCol="0" anchor="ctr"/>
          <a:lstStyle/>
          <a:p>
            <a:pPr marL="0" indent="0">
              <a:buNone/>
            </a:pPr>
            <a:r>
              <a:rPr lang="en-US" sz="950" dirty="0">
                <a:solidFill>
                  <a:srgbClr val="D97706"/>
                </a:solidFill>
                <a:latin typeface="Calibri" pitchFamily="34" charset="0"/>
                <a:ea typeface="Calibri" pitchFamily="34" charset="-122"/>
                <a:cs typeface="Calibri" pitchFamily="34" charset="-120"/>
              </a:rPr>
              <a:t>~ App only</a:t>
            </a:r>
            <a:endParaRPr lang="en-US" sz="950" dirty="0"/>
          </a:p>
        </p:txBody>
      </p:sp>
      <p:sp>
        <p:nvSpPr>
          <p:cNvPr id="23" name="Text 21"/>
          <p:cNvSpPr/>
          <p:nvPr/>
        </p:nvSpPr>
        <p:spPr>
          <a:xfrm>
            <a:off x="5678424" y="1810512"/>
            <a:ext cx="1261872" cy="347472"/>
          </a:xfrm>
          <a:prstGeom prst="rect">
            <a:avLst/>
          </a:prstGeom>
          <a:noFill/>
          <a:ln/>
        </p:spPr>
        <p:txBody>
          <a:bodyPr wrap="square" lIns="0" tIns="0" rIns="0" bIns="0" rtlCol="0" anchor="ctr"/>
          <a:lstStyle/>
          <a:p>
            <a:pPr marL="0" indent="0">
              <a:buNone/>
            </a:pPr>
            <a:r>
              <a:rPr lang="en-US" sz="950" dirty="0">
                <a:solidFill>
                  <a:srgbClr val="DC2626"/>
                </a:solidFill>
                <a:latin typeface="Calibri" pitchFamily="34" charset="0"/>
                <a:ea typeface="Calibri" pitchFamily="34" charset="-122"/>
                <a:cs typeface="Calibri" pitchFamily="34" charset="-120"/>
              </a:rPr>
              <a:t>✗ No</a:t>
            </a:r>
            <a:endParaRPr lang="en-US" sz="950" dirty="0"/>
          </a:p>
        </p:txBody>
      </p:sp>
      <p:sp>
        <p:nvSpPr>
          <p:cNvPr id="24" name="Text 22"/>
          <p:cNvSpPr/>
          <p:nvPr/>
        </p:nvSpPr>
        <p:spPr>
          <a:xfrm>
            <a:off x="7031736" y="1810512"/>
            <a:ext cx="2048256" cy="34747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 Full STT + TTS pipeline</a:t>
            </a:r>
            <a:endParaRPr lang="en-US" sz="950" dirty="0"/>
          </a:p>
        </p:txBody>
      </p:sp>
      <p:sp>
        <p:nvSpPr>
          <p:cNvPr id="25" name="Shape 23"/>
          <p:cNvSpPr/>
          <p:nvPr/>
        </p:nvSpPr>
        <p:spPr>
          <a:xfrm>
            <a:off x="502920" y="2157984"/>
            <a:ext cx="8458200" cy="347472"/>
          </a:xfrm>
          <a:prstGeom prst="rect">
            <a:avLst/>
          </a:prstGeom>
          <a:solidFill>
            <a:srgbClr val="FFFFFF"/>
          </a:solidFill>
          <a:ln w="12700">
            <a:solidFill>
              <a:srgbClr val="E8E8E8"/>
            </a:solidFill>
            <a:prstDash val="solid"/>
          </a:ln>
        </p:spPr>
        <p:txBody>
          <a:bodyPr/>
          <a:lstStyle/>
          <a:p>
            <a:endParaRPr lang="en-US"/>
          </a:p>
        </p:txBody>
      </p:sp>
      <p:sp>
        <p:nvSpPr>
          <p:cNvPr id="26" name="Text 24"/>
          <p:cNvSpPr/>
          <p:nvPr/>
        </p:nvSpPr>
        <p:spPr>
          <a:xfrm>
            <a:off x="576072" y="2157984"/>
            <a:ext cx="2304288" cy="347472"/>
          </a:xfrm>
          <a:prstGeom prst="rect">
            <a:avLst/>
          </a:prstGeom>
          <a:noFill/>
          <a:ln/>
        </p:spPr>
        <p:txBody>
          <a:bodyPr wrap="square" lIns="0" tIns="0" rIns="0" bIns="0" rtlCol="0" anchor="ctr"/>
          <a:lstStyle/>
          <a:p>
            <a:pPr marL="0" indent="0">
              <a:buNone/>
            </a:pPr>
            <a:r>
              <a:rPr lang="en-US" sz="1000" b="1" dirty="0">
                <a:solidFill>
                  <a:srgbClr val="111111"/>
                </a:solidFill>
                <a:latin typeface="Calibri" pitchFamily="34" charset="0"/>
                <a:ea typeface="Calibri" pitchFamily="34" charset="-122"/>
                <a:cs typeface="Calibri" pitchFamily="34" charset="-120"/>
              </a:rPr>
              <a:t>Medicine label detection</a:t>
            </a:r>
            <a:endParaRPr lang="en-US" sz="1000" dirty="0"/>
          </a:p>
        </p:txBody>
      </p:sp>
      <p:sp>
        <p:nvSpPr>
          <p:cNvPr id="27" name="Text 25"/>
          <p:cNvSpPr/>
          <p:nvPr/>
        </p:nvSpPr>
        <p:spPr>
          <a:xfrm>
            <a:off x="2971800" y="2157984"/>
            <a:ext cx="1261872" cy="347472"/>
          </a:xfrm>
          <a:prstGeom prst="rect">
            <a:avLst/>
          </a:prstGeom>
          <a:noFill/>
          <a:ln/>
        </p:spPr>
        <p:txBody>
          <a:bodyPr wrap="square" lIns="0" tIns="0" rIns="0" bIns="0" rtlCol="0" anchor="ctr"/>
          <a:lstStyle/>
          <a:p>
            <a:pPr marL="0" indent="0">
              <a:buNone/>
            </a:pPr>
            <a:r>
              <a:rPr lang="en-US" sz="950" dirty="0">
                <a:solidFill>
                  <a:srgbClr val="D97706"/>
                </a:solidFill>
                <a:latin typeface="Calibri" pitchFamily="34" charset="0"/>
                <a:ea typeface="Calibri" pitchFamily="34" charset="-122"/>
                <a:cs typeface="Calibri" pitchFamily="34" charset="-120"/>
              </a:rPr>
              <a:t>~ Manual</a:t>
            </a:r>
            <a:endParaRPr lang="en-US" sz="950" dirty="0"/>
          </a:p>
        </p:txBody>
      </p:sp>
      <p:sp>
        <p:nvSpPr>
          <p:cNvPr id="28" name="Text 26"/>
          <p:cNvSpPr/>
          <p:nvPr/>
        </p:nvSpPr>
        <p:spPr>
          <a:xfrm>
            <a:off x="4325112" y="2157984"/>
            <a:ext cx="1261872" cy="347472"/>
          </a:xfrm>
          <a:prstGeom prst="rect">
            <a:avLst/>
          </a:prstGeom>
          <a:noFill/>
          <a:ln/>
        </p:spPr>
        <p:txBody>
          <a:bodyPr wrap="square" lIns="0" tIns="0" rIns="0" bIns="0" rtlCol="0" anchor="ctr"/>
          <a:lstStyle/>
          <a:p>
            <a:pPr marL="0" indent="0">
              <a:buNone/>
            </a:pPr>
            <a:r>
              <a:rPr lang="en-US" sz="950" dirty="0">
                <a:solidFill>
                  <a:srgbClr val="D97706"/>
                </a:solidFill>
                <a:latin typeface="Calibri" pitchFamily="34" charset="0"/>
                <a:ea typeface="Calibri" pitchFamily="34" charset="-122"/>
                <a:cs typeface="Calibri" pitchFamily="34" charset="-120"/>
              </a:rPr>
              <a:t>~ Manual</a:t>
            </a:r>
            <a:endParaRPr lang="en-US" sz="950" dirty="0"/>
          </a:p>
        </p:txBody>
      </p:sp>
      <p:sp>
        <p:nvSpPr>
          <p:cNvPr id="29" name="Text 27"/>
          <p:cNvSpPr/>
          <p:nvPr/>
        </p:nvSpPr>
        <p:spPr>
          <a:xfrm>
            <a:off x="5678424" y="2157984"/>
            <a:ext cx="1261872" cy="347472"/>
          </a:xfrm>
          <a:prstGeom prst="rect">
            <a:avLst/>
          </a:prstGeom>
          <a:noFill/>
          <a:ln/>
        </p:spPr>
        <p:txBody>
          <a:bodyPr wrap="square" lIns="0" tIns="0" rIns="0" bIns="0" rtlCol="0" anchor="ctr"/>
          <a:lstStyle/>
          <a:p>
            <a:pPr marL="0" indent="0">
              <a:buNone/>
            </a:pPr>
            <a:r>
              <a:rPr lang="en-US" sz="950" dirty="0">
                <a:solidFill>
                  <a:srgbClr val="DC2626"/>
                </a:solidFill>
                <a:latin typeface="Calibri" pitchFamily="34" charset="0"/>
                <a:ea typeface="Calibri" pitchFamily="34" charset="-122"/>
                <a:cs typeface="Calibri" pitchFamily="34" charset="-120"/>
              </a:rPr>
              <a:t>✗ No</a:t>
            </a:r>
            <a:endParaRPr lang="en-US" sz="950" dirty="0"/>
          </a:p>
        </p:txBody>
      </p:sp>
      <p:sp>
        <p:nvSpPr>
          <p:cNvPr id="30" name="Text 28"/>
          <p:cNvSpPr/>
          <p:nvPr/>
        </p:nvSpPr>
        <p:spPr>
          <a:xfrm>
            <a:off x="7031736" y="2157984"/>
            <a:ext cx="2048256" cy="34747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 Dedicated photo scan</a:t>
            </a:r>
            <a:endParaRPr lang="en-US" sz="950" dirty="0"/>
          </a:p>
        </p:txBody>
      </p:sp>
      <p:sp>
        <p:nvSpPr>
          <p:cNvPr id="31" name="Shape 29"/>
          <p:cNvSpPr/>
          <p:nvPr/>
        </p:nvSpPr>
        <p:spPr>
          <a:xfrm>
            <a:off x="502920" y="2505456"/>
            <a:ext cx="8458200" cy="347472"/>
          </a:xfrm>
          <a:prstGeom prst="rect">
            <a:avLst/>
          </a:prstGeom>
          <a:solidFill>
            <a:srgbClr val="FAFAFA"/>
          </a:solidFill>
          <a:ln w="12700">
            <a:solidFill>
              <a:srgbClr val="E8E8E8"/>
            </a:solidFill>
            <a:prstDash val="solid"/>
          </a:ln>
        </p:spPr>
        <p:txBody>
          <a:bodyPr/>
          <a:lstStyle/>
          <a:p>
            <a:endParaRPr lang="en-US"/>
          </a:p>
        </p:txBody>
      </p:sp>
      <p:sp>
        <p:nvSpPr>
          <p:cNvPr id="32" name="Text 30"/>
          <p:cNvSpPr/>
          <p:nvPr/>
        </p:nvSpPr>
        <p:spPr>
          <a:xfrm>
            <a:off x="576072" y="2505456"/>
            <a:ext cx="2304288" cy="347472"/>
          </a:xfrm>
          <a:prstGeom prst="rect">
            <a:avLst/>
          </a:prstGeom>
          <a:noFill/>
          <a:ln/>
        </p:spPr>
        <p:txBody>
          <a:bodyPr wrap="square" lIns="0" tIns="0" rIns="0" bIns="0" rtlCol="0" anchor="ctr"/>
          <a:lstStyle/>
          <a:p>
            <a:pPr marL="0" indent="0">
              <a:buNone/>
            </a:pPr>
            <a:r>
              <a:rPr lang="en-US" sz="1000" b="1" dirty="0">
                <a:solidFill>
                  <a:srgbClr val="111111"/>
                </a:solidFill>
                <a:latin typeface="Calibri" pitchFamily="34" charset="0"/>
                <a:ea typeface="Calibri" pitchFamily="34" charset="-122"/>
                <a:cs typeface="Calibri" pitchFamily="34" charset="-120"/>
              </a:rPr>
              <a:t>Medical report reading</a:t>
            </a:r>
            <a:endParaRPr lang="en-US" sz="1000" dirty="0"/>
          </a:p>
        </p:txBody>
      </p:sp>
      <p:sp>
        <p:nvSpPr>
          <p:cNvPr id="33" name="Text 31"/>
          <p:cNvSpPr/>
          <p:nvPr/>
        </p:nvSpPr>
        <p:spPr>
          <a:xfrm>
            <a:off x="2971800" y="2505456"/>
            <a:ext cx="1261872" cy="347472"/>
          </a:xfrm>
          <a:prstGeom prst="rect">
            <a:avLst/>
          </a:prstGeom>
          <a:noFill/>
          <a:ln/>
        </p:spPr>
        <p:txBody>
          <a:bodyPr wrap="square" lIns="0" tIns="0" rIns="0" bIns="0" rtlCol="0" anchor="ctr"/>
          <a:lstStyle/>
          <a:p>
            <a:pPr marL="0" indent="0">
              <a:buNone/>
            </a:pPr>
            <a:r>
              <a:rPr lang="en-US" sz="950" dirty="0">
                <a:solidFill>
                  <a:srgbClr val="D97706"/>
                </a:solidFill>
                <a:latin typeface="Calibri" pitchFamily="34" charset="0"/>
                <a:ea typeface="Calibri" pitchFamily="34" charset="-122"/>
                <a:cs typeface="Calibri" pitchFamily="34" charset="-120"/>
              </a:rPr>
              <a:t>~ Upload</a:t>
            </a:r>
            <a:endParaRPr lang="en-US" sz="950" dirty="0"/>
          </a:p>
        </p:txBody>
      </p:sp>
      <p:sp>
        <p:nvSpPr>
          <p:cNvPr id="34" name="Text 32"/>
          <p:cNvSpPr/>
          <p:nvPr/>
        </p:nvSpPr>
        <p:spPr>
          <a:xfrm>
            <a:off x="4325112" y="2505456"/>
            <a:ext cx="1261872" cy="347472"/>
          </a:xfrm>
          <a:prstGeom prst="rect">
            <a:avLst/>
          </a:prstGeom>
          <a:noFill/>
          <a:ln/>
        </p:spPr>
        <p:txBody>
          <a:bodyPr wrap="square" lIns="0" tIns="0" rIns="0" bIns="0" rtlCol="0" anchor="ctr"/>
          <a:lstStyle/>
          <a:p>
            <a:pPr marL="0" indent="0">
              <a:buNone/>
            </a:pPr>
            <a:r>
              <a:rPr lang="en-US" sz="950" dirty="0">
                <a:solidFill>
                  <a:srgbClr val="D97706"/>
                </a:solidFill>
                <a:latin typeface="Calibri" pitchFamily="34" charset="0"/>
                <a:ea typeface="Calibri" pitchFamily="34" charset="-122"/>
                <a:cs typeface="Calibri" pitchFamily="34" charset="-120"/>
              </a:rPr>
              <a:t>~ Upload</a:t>
            </a:r>
            <a:endParaRPr lang="en-US" sz="950" dirty="0"/>
          </a:p>
        </p:txBody>
      </p:sp>
      <p:sp>
        <p:nvSpPr>
          <p:cNvPr id="35" name="Text 33"/>
          <p:cNvSpPr/>
          <p:nvPr/>
        </p:nvSpPr>
        <p:spPr>
          <a:xfrm>
            <a:off x="5678424" y="2505456"/>
            <a:ext cx="1261872" cy="347472"/>
          </a:xfrm>
          <a:prstGeom prst="rect">
            <a:avLst/>
          </a:prstGeom>
          <a:noFill/>
          <a:ln/>
        </p:spPr>
        <p:txBody>
          <a:bodyPr wrap="square" lIns="0" tIns="0" rIns="0" bIns="0" rtlCol="0" anchor="ctr"/>
          <a:lstStyle/>
          <a:p>
            <a:pPr marL="0" indent="0">
              <a:buNone/>
            </a:pPr>
            <a:r>
              <a:rPr lang="en-US" sz="950" dirty="0">
                <a:solidFill>
                  <a:srgbClr val="DC2626"/>
                </a:solidFill>
                <a:latin typeface="Calibri" pitchFamily="34" charset="0"/>
                <a:ea typeface="Calibri" pitchFamily="34" charset="-122"/>
                <a:cs typeface="Calibri" pitchFamily="34" charset="-120"/>
              </a:rPr>
              <a:t>✗ No</a:t>
            </a:r>
            <a:endParaRPr lang="en-US" sz="950" dirty="0"/>
          </a:p>
        </p:txBody>
      </p:sp>
      <p:sp>
        <p:nvSpPr>
          <p:cNvPr id="36" name="Text 34"/>
          <p:cNvSpPr/>
          <p:nvPr/>
        </p:nvSpPr>
        <p:spPr>
          <a:xfrm>
            <a:off x="7031736" y="2505456"/>
            <a:ext cx="2048256" cy="34747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 Instant plain-language summary</a:t>
            </a:r>
            <a:endParaRPr lang="en-US" sz="950" dirty="0"/>
          </a:p>
        </p:txBody>
      </p:sp>
      <p:sp>
        <p:nvSpPr>
          <p:cNvPr id="37" name="Shape 35"/>
          <p:cNvSpPr/>
          <p:nvPr/>
        </p:nvSpPr>
        <p:spPr>
          <a:xfrm>
            <a:off x="502920" y="2852928"/>
            <a:ext cx="8458200" cy="347472"/>
          </a:xfrm>
          <a:prstGeom prst="rect">
            <a:avLst/>
          </a:prstGeom>
          <a:solidFill>
            <a:srgbClr val="FFFFFF"/>
          </a:solidFill>
          <a:ln w="12700">
            <a:solidFill>
              <a:srgbClr val="E8E8E8"/>
            </a:solidFill>
            <a:prstDash val="solid"/>
          </a:ln>
        </p:spPr>
        <p:txBody>
          <a:bodyPr/>
          <a:lstStyle/>
          <a:p>
            <a:endParaRPr lang="en-US" dirty="0"/>
          </a:p>
        </p:txBody>
      </p:sp>
      <p:sp>
        <p:nvSpPr>
          <p:cNvPr id="38" name="Text 36"/>
          <p:cNvSpPr/>
          <p:nvPr/>
        </p:nvSpPr>
        <p:spPr>
          <a:xfrm>
            <a:off x="576072" y="2852928"/>
            <a:ext cx="2304288" cy="347472"/>
          </a:xfrm>
          <a:prstGeom prst="rect">
            <a:avLst/>
          </a:prstGeom>
          <a:noFill/>
          <a:ln/>
        </p:spPr>
        <p:txBody>
          <a:bodyPr wrap="square" lIns="0" tIns="0" rIns="0" bIns="0" rtlCol="0" anchor="ctr"/>
          <a:lstStyle/>
          <a:p>
            <a:pPr marL="0" indent="0">
              <a:buNone/>
            </a:pPr>
            <a:r>
              <a:rPr lang="en-US" sz="1000" b="1" dirty="0">
                <a:solidFill>
                  <a:srgbClr val="111111"/>
                </a:solidFill>
                <a:latin typeface="Calibri" pitchFamily="34" charset="0"/>
                <a:ea typeface="Calibri" pitchFamily="34" charset="-122"/>
                <a:cs typeface="Calibri" pitchFamily="34" charset="-120"/>
              </a:rPr>
              <a:t>SOS emergency trigger</a:t>
            </a:r>
            <a:endParaRPr lang="en-US" sz="1000" dirty="0"/>
          </a:p>
        </p:txBody>
      </p:sp>
      <p:sp>
        <p:nvSpPr>
          <p:cNvPr id="39" name="Text 37"/>
          <p:cNvSpPr/>
          <p:nvPr/>
        </p:nvSpPr>
        <p:spPr>
          <a:xfrm>
            <a:off x="2971800" y="2852928"/>
            <a:ext cx="1261872" cy="347472"/>
          </a:xfrm>
          <a:prstGeom prst="rect">
            <a:avLst/>
          </a:prstGeom>
          <a:noFill/>
          <a:ln/>
        </p:spPr>
        <p:txBody>
          <a:bodyPr wrap="square" lIns="0" tIns="0" rIns="0" bIns="0" rtlCol="0" anchor="ctr"/>
          <a:lstStyle/>
          <a:p>
            <a:pPr marL="0" indent="0">
              <a:buNone/>
            </a:pPr>
            <a:r>
              <a:rPr lang="en-US" sz="950" dirty="0">
                <a:solidFill>
                  <a:srgbClr val="DC2626"/>
                </a:solidFill>
                <a:latin typeface="Calibri" pitchFamily="34" charset="0"/>
                <a:ea typeface="Calibri" pitchFamily="34" charset="-122"/>
                <a:cs typeface="Calibri" pitchFamily="34" charset="-120"/>
              </a:rPr>
              <a:t>✗ No</a:t>
            </a:r>
            <a:endParaRPr lang="en-US" sz="950" dirty="0"/>
          </a:p>
        </p:txBody>
      </p:sp>
      <p:sp>
        <p:nvSpPr>
          <p:cNvPr id="40" name="Text 38"/>
          <p:cNvSpPr/>
          <p:nvPr/>
        </p:nvSpPr>
        <p:spPr>
          <a:xfrm>
            <a:off x="4325112" y="2852928"/>
            <a:ext cx="1261872" cy="347472"/>
          </a:xfrm>
          <a:prstGeom prst="rect">
            <a:avLst/>
          </a:prstGeom>
          <a:noFill/>
          <a:ln/>
        </p:spPr>
        <p:txBody>
          <a:bodyPr wrap="square" lIns="0" tIns="0" rIns="0" bIns="0" rtlCol="0" anchor="ctr"/>
          <a:lstStyle/>
          <a:p>
            <a:pPr marL="0" indent="0">
              <a:buNone/>
            </a:pPr>
            <a:r>
              <a:rPr lang="en-US" sz="950" dirty="0">
                <a:solidFill>
                  <a:srgbClr val="DC2626"/>
                </a:solidFill>
                <a:latin typeface="Calibri" pitchFamily="34" charset="0"/>
                <a:ea typeface="Calibri" pitchFamily="34" charset="-122"/>
                <a:cs typeface="Calibri" pitchFamily="34" charset="-120"/>
              </a:rPr>
              <a:t>✗ No</a:t>
            </a:r>
            <a:endParaRPr lang="en-US" sz="950" dirty="0"/>
          </a:p>
        </p:txBody>
      </p:sp>
      <p:sp>
        <p:nvSpPr>
          <p:cNvPr id="41" name="Text 39"/>
          <p:cNvSpPr/>
          <p:nvPr/>
        </p:nvSpPr>
        <p:spPr>
          <a:xfrm>
            <a:off x="5678424" y="2852928"/>
            <a:ext cx="1261872" cy="347472"/>
          </a:xfrm>
          <a:prstGeom prst="rect">
            <a:avLst/>
          </a:prstGeom>
          <a:noFill/>
          <a:ln/>
        </p:spPr>
        <p:txBody>
          <a:bodyPr wrap="square" lIns="0" tIns="0" rIns="0" bIns="0" rtlCol="0" anchor="ctr"/>
          <a:lstStyle/>
          <a:p>
            <a:pPr marL="0" indent="0">
              <a:buNone/>
            </a:pPr>
            <a:r>
              <a:rPr lang="en-US" sz="950" dirty="0">
                <a:solidFill>
                  <a:srgbClr val="DC2626"/>
                </a:solidFill>
                <a:latin typeface="Calibri" pitchFamily="34" charset="0"/>
                <a:ea typeface="Calibri" pitchFamily="34" charset="-122"/>
                <a:cs typeface="Calibri" pitchFamily="34" charset="-120"/>
              </a:rPr>
              <a:t>✗ No</a:t>
            </a:r>
            <a:endParaRPr lang="en-US" sz="950" dirty="0"/>
          </a:p>
        </p:txBody>
      </p:sp>
      <p:sp>
        <p:nvSpPr>
          <p:cNvPr id="42" name="Text 40"/>
          <p:cNvSpPr/>
          <p:nvPr/>
        </p:nvSpPr>
        <p:spPr>
          <a:xfrm>
            <a:off x="7031736" y="2852928"/>
            <a:ext cx="2048256" cy="34747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 One-tap GPS + history + contacts</a:t>
            </a:r>
            <a:endParaRPr lang="en-US" sz="950" dirty="0"/>
          </a:p>
        </p:txBody>
      </p:sp>
      <p:sp>
        <p:nvSpPr>
          <p:cNvPr id="43" name="Shape 41"/>
          <p:cNvSpPr/>
          <p:nvPr/>
        </p:nvSpPr>
        <p:spPr>
          <a:xfrm>
            <a:off x="502920" y="3200400"/>
            <a:ext cx="8458200" cy="347472"/>
          </a:xfrm>
          <a:prstGeom prst="rect">
            <a:avLst/>
          </a:prstGeom>
          <a:solidFill>
            <a:srgbClr val="FAFAFA"/>
          </a:solidFill>
          <a:ln w="12700">
            <a:solidFill>
              <a:srgbClr val="E8E8E8"/>
            </a:solidFill>
            <a:prstDash val="solid"/>
          </a:ln>
        </p:spPr>
        <p:txBody>
          <a:bodyPr/>
          <a:lstStyle/>
          <a:p>
            <a:endParaRPr lang="en-US"/>
          </a:p>
        </p:txBody>
      </p:sp>
      <p:sp>
        <p:nvSpPr>
          <p:cNvPr id="44" name="Text 42"/>
          <p:cNvSpPr/>
          <p:nvPr/>
        </p:nvSpPr>
        <p:spPr>
          <a:xfrm>
            <a:off x="576072" y="3200400"/>
            <a:ext cx="2304288" cy="347472"/>
          </a:xfrm>
          <a:prstGeom prst="rect">
            <a:avLst/>
          </a:prstGeom>
          <a:noFill/>
          <a:ln/>
        </p:spPr>
        <p:txBody>
          <a:bodyPr wrap="square" lIns="0" tIns="0" rIns="0" bIns="0" rtlCol="0" anchor="ctr"/>
          <a:lstStyle/>
          <a:p>
            <a:pPr marL="0" indent="0">
              <a:buNone/>
            </a:pPr>
            <a:r>
              <a:rPr lang="en-US" sz="1000" b="1" dirty="0">
                <a:solidFill>
                  <a:srgbClr val="111111"/>
                </a:solidFill>
                <a:latin typeface="Calibri" pitchFamily="34" charset="0"/>
                <a:ea typeface="Calibri" pitchFamily="34" charset="-122"/>
                <a:cs typeface="Calibri" pitchFamily="34" charset="-120"/>
              </a:rPr>
              <a:t>Real-time disease alerts</a:t>
            </a:r>
            <a:endParaRPr lang="en-US" sz="1000" dirty="0"/>
          </a:p>
        </p:txBody>
      </p:sp>
      <p:sp>
        <p:nvSpPr>
          <p:cNvPr id="45" name="Text 43"/>
          <p:cNvSpPr/>
          <p:nvPr/>
        </p:nvSpPr>
        <p:spPr>
          <a:xfrm>
            <a:off x="2971800" y="3200400"/>
            <a:ext cx="1261872" cy="347472"/>
          </a:xfrm>
          <a:prstGeom prst="rect">
            <a:avLst/>
          </a:prstGeom>
          <a:noFill/>
          <a:ln/>
        </p:spPr>
        <p:txBody>
          <a:bodyPr wrap="square" lIns="0" tIns="0" rIns="0" bIns="0" rtlCol="0" anchor="ctr"/>
          <a:lstStyle/>
          <a:p>
            <a:pPr marL="0" indent="0">
              <a:buNone/>
            </a:pPr>
            <a:r>
              <a:rPr lang="en-US" sz="950" dirty="0">
                <a:solidFill>
                  <a:srgbClr val="DC2626"/>
                </a:solidFill>
                <a:latin typeface="Calibri" pitchFamily="34" charset="0"/>
                <a:ea typeface="Calibri" pitchFamily="34" charset="-122"/>
                <a:cs typeface="Calibri" pitchFamily="34" charset="-120"/>
              </a:rPr>
              <a:t>✗ No data</a:t>
            </a:r>
            <a:endParaRPr lang="en-US" sz="950" dirty="0"/>
          </a:p>
        </p:txBody>
      </p:sp>
      <p:sp>
        <p:nvSpPr>
          <p:cNvPr id="46" name="Text 44"/>
          <p:cNvSpPr/>
          <p:nvPr/>
        </p:nvSpPr>
        <p:spPr>
          <a:xfrm>
            <a:off x="4325112" y="3200400"/>
            <a:ext cx="1261872" cy="347472"/>
          </a:xfrm>
          <a:prstGeom prst="rect">
            <a:avLst/>
          </a:prstGeom>
          <a:noFill/>
          <a:ln/>
        </p:spPr>
        <p:txBody>
          <a:bodyPr wrap="square" lIns="0" tIns="0" rIns="0" bIns="0" rtlCol="0" anchor="ctr"/>
          <a:lstStyle/>
          <a:p>
            <a:pPr marL="0" indent="0">
              <a:buNone/>
            </a:pPr>
            <a:r>
              <a:rPr lang="en-US" sz="950" dirty="0">
                <a:solidFill>
                  <a:srgbClr val="DC2626"/>
                </a:solidFill>
                <a:latin typeface="Calibri" pitchFamily="34" charset="0"/>
                <a:ea typeface="Calibri" pitchFamily="34" charset="-122"/>
                <a:cs typeface="Calibri" pitchFamily="34" charset="-120"/>
              </a:rPr>
              <a:t>✗ No data</a:t>
            </a:r>
            <a:endParaRPr lang="en-US" sz="950" dirty="0"/>
          </a:p>
        </p:txBody>
      </p:sp>
      <p:sp>
        <p:nvSpPr>
          <p:cNvPr id="47" name="Text 45"/>
          <p:cNvSpPr/>
          <p:nvPr/>
        </p:nvSpPr>
        <p:spPr>
          <a:xfrm>
            <a:off x="5678424" y="3200400"/>
            <a:ext cx="1261872" cy="347472"/>
          </a:xfrm>
          <a:prstGeom prst="rect">
            <a:avLst/>
          </a:prstGeom>
          <a:noFill/>
          <a:ln/>
        </p:spPr>
        <p:txBody>
          <a:bodyPr wrap="square" lIns="0" tIns="0" rIns="0" bIns="0" rtlCol="0" anchor="ctr"/>
          <a:lstStyle/>
          <a:p>
            <a:pPr marL="0" indent="0">
              <a:buNone/>
            </a:pPr>
            <a:r>
              <a:rPr lang="en-US" sz="950" dirty="0">
                <a:solidFill>
                  <a:srgbClr val="D97706"/>
                </a:solidFill>
                <a:latin typeface="Calibri" pitchFamily="34" charset="0"/>
                <a:ea typeface="Calibri" pitchFamily="34" charset="-122"/>
                <a:cs typeface="Calibri" pitchFamily="34" charset="-120"/>
              </a:rPr>
              <a:t>~ News only</a:t>
            </a:r>
            <a:endParaRPr lang="en-US" sz="950" dirty="0"/>
          </a:p>
        </p:txBody>
      </p:sp>
      <p:sp>
        <p:nvSpPr>
          <p:cNvPr id="48" name="Text 46"/>
          <p:cNvSpPr/>
          <p:nvPr/>
        </p:nvSpPr>
        <p:spPr>
          <a:xfrm>
            <a:off x="7031736" y="3200400"/>
            <a:ext cx="2048256" cy="34747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 Location-aware WHO alerts</a:t>
            </a:r>
            <a:endParaRPr lang="en-US" sz="950" dirty="0"/>
          </a:p>
        </p:txBody>
      </p:sp>
      <p:sp>
        <p:nvSpPr>
          <p:cNvPr id="49" name="Shape 47"/>
          <p:cNvSpPr/>
          <p:nvPr/>
        </p:nvSpPr>
        <p:spPr>
          <a:xfrm>
            <a:off x="502920" y="3547872"/>
            <a:ext cx="8458200" cy="347472"/>
          </a:xfrm>
          <a:prstGeom prst="rect">
            <a:avLst/>
          </a:prstGeom>
          <a:solidFill>
            <a:srgbClr val="FFFFFF"/>
          </a:solidFill>
          <a:ln w="12700">
            <a:solidFill>
              <a:srgbClr val="E8E8E8"/>
            </a:solidFill>
            <a:prstDash val="solid"/>
          </a:ln>
        </p:spPr>
        <p:txBody>
          <a:bodyPr/>
          <a:lstStyle/>
          <a:p>
            <a:endParaRPr lang="en-US" dirty="0"/>
          </a:p>
        </p:txBody>
      </p:sp>
      <p:sp>
        <p:nvSpPr>
          <p:cNvPr id="50" name="Text 48"/>
          <p:cNvSpPr/>
          <p:nvPr/>
        </p:nvSpPr>
        <p:spPr>
          <a:xfrm>
            <a:off x="576072" y="3547872"/>
            <a:ext cx="2304288" cy="347472"/>
          </a:xfrm>
          <a:prstGeom prst="rect">
            <a:avLst/>
          </a:prstGeom>
          <a:noFill/>
          <a:ln/>
        </p:spPr>
        <p:txBody>
          <a:bodyPr wrap="square" lIns="0" tIns="0" rIns="0" bIns="0" rtlCol="0" anchor="ctr"/>
          <a:lstStyle/>
          <a:p>
            <a:pPr marL="0" indent="0">
              <a:buNone/>
            </a:pPr>
            <a:r>
              <a:rPr lang="en-US" sz="1000" b="1" dirty="0">
                <a:solidFill>
                  <a:srgbClr val="111111"/>
                </a:solidFill>
                <a:latin typeface="Calibri" pitchFamily="34" charset="0"/>
                <a:ea typeface="Calibri" pitchFamily="34" charset="-122"/>
                <a:cs typeface="Calibri" pitchFamily="34" charset="-120"/>
              </a:rPr>
              <a:t>Nepali language</a:t>
            </a:r>
            <a:endParaRPr lang="en-US" sz="1000" dirty="0"/>
          </a:p>
        </p:txBody>
      </p:sp>
      <p:sp>
        <p:nvSpPr>
          <p:cNvPr id="51" name="Text 49"/>
          <p:cNvSpPr/>
          <p:nvPr/>
        </p:nvSpPr>
        <p:spPr>
          <a:xfrm>
            <a:off x="2971800" y="3547872"/>
            <a:ext cx="1261872" cy="347472"/>
          </a:xfrm>
          <a:prstGeom prst="rect">
            <a:avLst/>
          </a:prstGeom>
          <a:noFill/>
          <a:ln/>
        </p:spPr>
        <p:txBody>
          <a:bodyPr wrap="square" lIns="0" tIns="0" rIns="0" bIns="0" rtlCol="0" anchor="ctr"/>
          <a:lstStyle/>
          <a:p>
            <a:pPr marL="0" indent="0">
              <a:buNone/>
            </a:pPr>
            <a:r>
              <a:rPr lang="en-US" sz="950" dirty="0">
                <a:solidFill>
                  <a:srgbClr val="D97706"/>
                </a:solidFill>
                <a:latin typeface="Calibri" pitchFamily="34" charset="0"/>
                <a:ea typeface="Calibri" pitchFamily="34" charset="-122"/>
                <a:cs typeface="Calibri" pitchFamily="34" charset="-120"/>
              </a:rPr>
              <a:t>~ Limited</a:t>
            </a:r>
            <a:endParaRPr lang="en-US" sz="950" dirty="0"/>
          </a:p>
        </p:txBody>
      </p:sp>
      <p:sp>
        <p:nvSpPr>
          <p:cNvPr id="52" name="Text 50"/>
          <p:cNvSpPr/>
          <p:nvPr/>
        </p:nvSpPr>
        <p:spPr>
          <a:xfrm>
            <a:off x="4325112" y="3547872"/>
            <a:ext cx="1261872" cy="347472"/>
          </a:xfrm>
          <a:prstGeom prst="rect">
            <a:avLst/>
          </a:prstGeom>
          <a:noFill/>
          <a:ln/>
        </p:spPr>
        <p:txBody>
          <a:bodyPr wrap="square" lIns="0" tIns="0" rIns="0" bIns="0" rtlCol="0" anchor="ctr"/>
          <a:lstStyle/>
          <a:p>
            <a:pPr marL="0" indent="0">
              <a:buNone/>
            </a:pPr>
            <a:r>
              <a:rPr lang="en-US" sz="950" dirty="0">
                <a:solidFill>
                  <a:srgbClr val="D97706"/>
                </a:solidFill>
                <a:latin typeface="Calibri" pitchFamily="34" charset="0"/>
                <a:ea typeface="Calibri" pitchFamily="34" charset="-122"/>
                <a:cs typeface="Calibri" pitchFamily="34" charset="-120"/>
              </a:rPr>
              <a:t>~ Limited</a:t>
            </a:r>
            <a:endParaRPr lang="en-US" sz="950" dirty="0"/>
          </a:p>
        </p:txBody>
      </p:sp>
      <p:sp>
        <p:nvSpPr>
          <p:cNvPr id="53" name="Text 51"/>
          <p:cNvSpPr/>
          <p:nvPr/>
        </p:nvSpPr>
        <p:spPr>
          <a:xfrm>
            <a:off x="5678424" y="3547872"/>
            <a:ext cx="1261872" cy="347472"/>
          </a:xfrm>
          <a:prstGeom prst="rect">
            <a:avLst/>
          </a:prstGeom>
          <a:noFill/>
          <a:ln/>
        </p:spPr>
        <p:txBody>
          <a:bodyPr wrap="square" lIns="0" tIns="0" rIns="0" bIns="0" rtlCol="0" anchor="ctr"/>
          <a:lstStyle/>
          <a:p>
            <a:pPr marL="0" indent="0">
              <a:buNone/>
            </a:pPr>
            <a:r>
              <a:rPr lang="en-US" sz="950" dirty="0">
                <a:solidFill>
                  <a:srgbClr val="D97706"/>
                </a:solidFill>
                <a:latin typeface="Calibri" pitchFamily="34" charset="0"/>
                <a:ea typeface="Calibri" pitchFamily="34" charset="-122"/>
                <a:cs typeface="Calibri" pitchFamily="34" charset="-120"/>
              </a:rPr>
              <a:t>~ Partial</a:t>
            </a:r>
            <a:endParaRPr lang="en-US" sz="950" dirty="0"/>
          </a:p>
        </p:txBody>
      </p:sp>
      <p:sp>
        <p:nvSpPr>
          <p:cNvPr id="54" name="Text 52"/>
          <p:cNvSpPr/>
          <p:nvPr/>
        </p:nvSpPr>
        <p:spPr>
          <a:xfrm>
            <a:off x="7031736" y="3547872"/>
            <a:ext cx="2048256" cy="347472"/>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 Native Nepali + voice UI</a:t>
            </a:r>
            <a:endParaRPr lang="en-US" sz="950" dirty="0"/>
          </a:p>
        </p:txBody>
      </p:sp>
      <p:sp>
        <p:nvSpPr>
          <p:cNvPr id="59" name="Text 57"/>
          <p:cNvSpPr/>
          <p:nvPr/>
        </p:nvSpPr>
        <p:spPr>
          <a:xfrm>
            <a:off x="5678424" y="3895344"/>
            <a:ext cx="1261872" cy="347472"/>
          </a:xfrm>
          <a:prstGeom prst="rect">
            <a:avLst/>
          </a:prstGeom>
          <a:noFill/>
          <a:ln/>
        </p:spPr>
        <p:txBody>
          <a:bodyPr wrap="square" lIns="0" tIns="0" rIns="0" bIns="0" rtlCol="0" anchor="ctr"/>
          <a:lstStyle/>
          <a:p>
            <a:pPr marL="0" indent="0">
              <a:buNone/>
            </a:pPr>
            <a:endParaRPr lang="en-US" sz="950" dirty="0"/>
          </a:p>
        </p:txBody>
      </p:sp>
      <p:sp>
        <p:nvSpPr>
          <p:cNvPr id="62" name="Text 60"/>
          <p:cNvSpPr/>
          <p:nvPr/>
        </p:nvSpPr>
        <p:spPr>
          <a:xfrm>
            <a:off x="0" y="4869180"/>
            <a:ext cx="9144000" cy="256032"/>
          </a:xfrm>
          <a:prstGeom prst="rect">
            <a:avLst/>
          </a:prstGeom>
          <a:noFill/>
          <a:ln/>
        </p:spPr>
        <p:txBody>
          <a:bodyPr wrap="square" rtlCol="0" anchor="ctr"/>
          <a:lstStyle/>
          <a:p>
            <a:pPr marL="0" indent="0" algn="r">
              <a:buNone/>
            </a:pPr>
            <a:r>
              <a:rPr lang="en-US" sz="850" dirty="0">
                <a:solidFill>
                  <a:srgbClr val="E8E8E8"/>
                </a:solidFill>
                <a:latin typeface="Calibri" pitchFamily="34" charset="0"/>
                <a:ea typeface="Calibri" pitchFamily="34" charset="-122"/>
                <a:cs typeface="Calibri" pitchFamily="34" charset="-120"/>
              </a:rPr>
              <a:t>04 / 08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01168"/>
            <a:ext cx="7315200" cy="201168"/>
          </a:xfrm>
          <a:prstGeom prst="rect">
            <a:avLst/>
          </a:prstGeom>
          <a:noFill/>
          <a:ln/>
        </p:spPr>
        <p:txBody>
          <a:bodyPr wrap="square" lIns="0" tIns="0" rIns="0" bIns="0" rtlCol="0" anchor="ctr"/>
          <a:lstStyle/>
          <a:p>
            <a:pPr marL="0" indent="0">
              <a:buNone/>
            </a:pPr>
            <a:r>
              <a:rPr lang="en-US" sz="1200" b="1" kern="0" spc="300" dirty="0">
                <a:latin typeface="Cambria" panose="02040503050406030204" pitchFamily="18" charset="0"/>
                <a:ea typeface="Cambria" panose="02040503050406030204" pitchFamily="18" charset="0"/>
                <a:cs typeface="Calibri" pitchFamily="34" charset="-120"/>
              </a:rPr>
              <a:t>TARGET USERS</a:t>
            </a:r>
            <a:endParaRPr lang="en-US" sz="1200" dirty="0">
              <a:latin typeface="Cambria" panose="02040503050406030204" pitchFamily="18" charset="0"/>
              <a:ea typeface="Cambria" panose="02040503050406030204" pitchFamily="18" charset="0"/>
            </a:endParaRPr>
          </a:p>
        </p:txBody>
      </p:sp>
      <p:sp>
        <p:nvSpPr>
          <p:cNvPr id="4" name="Text 2"/>
          <p:cNvSpPr/>
          <p:nvPr/>
        </p:nvSpPr>
        <p:spPr>
          <a:xfrm>
            <a:off x="502920" y="420624"/>
            <a:ext cx="8229600" cy="530352"/>
          </a:xfrm>
          <a:prstGeom prst="rect">
            <a:avLst/>
          </a:prstGeom>
          <a:noFill/>
          <a:ln/>
        </p:spPr>
        <p:txBody>
          <a:bodyPr wrap="square" lIns="0" tIns="0" rIns="0" bIns="0" rtlCol="0" anchor="ctr"/>
          <a:lstStyle/>
          <a:p>
            <a:pPr marL="0" indent="0">
              <a:buNone/>
            </a:pPr>
            <a:r>
              <a:rPr lang="en-US" sz="2600" b="1" dirty="0">
                <a:solidFill>
                  <a:srgbClr val="111111"/>
                </a:solidFill>
                <a:latin typeface="Calibri" pitchFamily="34" charset="0"/>
                <a:ea typeface="Calibri" pitchFamily="34" charset="-122"/>
                <a:cs typeface="Calibri" pitchFamily="34" charset="-120"/>
              </a:rPr>
              <a:t>Who we serve — and why existing tools fail them</a:t>
            </a:r>
            <a:endParaRPr lang="en-US" sz="2600" dirty="0"/>
          </a:p>
        </p:txBody>
      </p:sp>
      <p:sp>
        <p:nvSpPr>
          <p:cNvPr id="5" name="Shape 3"/>
          <p:cNvSpPr/>
          <p:nvPr/>
        </p:nvSpPr>
        <p:spPr>
          <a:xfrm>
            <a:off x="502920" y="1024128"/>
            <a:ext cx="8138160" cy="13716"/>
          </a:xfrm>
          <a:prstGeom prst="rect">
            <a:avLst/>
          </a:prstGeom>
          <a:solidFill>
            <a:srgbClr val="E8E8E8"/>
          </a:solidFill>
          <a:ln w="12700">
            <a:solidFill>
              <a:srgbClr val="E8E8E8"/>
            </a:solidFill>
            <a:prstDash val="solid"/>
          </a:ln>
        </p:spPr>
        <p:txBody>
          <a:bodyPr/>
          <a:lstStyle/>
          <a:p>
            <a:endParaRPr lang="en-US"/>
          </a:p>
        </p:txBody>
      </p:sp>
      <p:sp>
        <p:nvSpPr>
          <p:cNvPr id="6" name="Shape 4"/>
          <p:cNvSpPr/>
          <p:nvPr/>
        </p:nvSpPr>
        <p:spPr>
          <a:xfrm>
            <a:off x="502920" y="1188720"/>
            <a:ext cx="91440" cy="91440"/>
          </a:xfrm>
          <a:prstGeom prst="ellipse">
            <a:avLst/>
          </a:prstGeom>
          <a:solidFill>
            <a:srgbClr val="7C3AED"/>
          </a:solidFill>
          <a:ln w="12700">
            <a:solidFill>
              <a:srgbClr val="7C3AED"/>
            </a:solidFill>
            <a:prstDash val="solid"/>
          </a:ln>
        </p:spPr>
        <p:txBody>
          <a:bodyPr/>
          <a:lstStyle/>
          <a:p>
            <a:endParaRPr lang="en-US"/>
          </a:p>
        </p:txBody>
      </p:sp>
      <p:sp>
        <p:nvSpPr>
          <p:cNvPr id="7" name="Text 5"/>
          <p:cNvSpPr/>
          <p:nvPr/>
        </p:nvSpPr>
        <p:spPr>
          <a:xfrm>
            <a:off x="667512" y="1133856"/>
            <a:ext cx="2560320" cy="237744"/>
          </a:xfrm>
          <a:prstGeom prst="rect">
            <a:avLst/>
          </a:prstGeom>
          <a:noFill/>
          <a:ln/>
        </p:spPr>
        <p:txBody>
          <a:bodyPr wrap="square" lIns="0" tIns="0" rIns="0" bIns="0" rtlCol="0" anchor="ctr"/>
          <a:lstStyle/>
          <a:p>
            <a:pPr marL="0" indent="0">
              <a:buNone/>
            </a:pPr>
            <a:r>
              <a:rPr lang="en-US" sz="850" b="1" kern="0" spc="100" dirty="0">
                <a:solidFill>
                  <a:srgbClr val="7C3AED"/>
                </a:solidFill>
                <a:latin typeface="Calibri" pitchFamily="34" charset="0"/>
                <a:ea typeface="Calibri" pitchFamily="34" charset="-122"/>
                <a:cs typeface="Calibri" pitchFamily="34" charset="-120"/>
              </a:rPr>
              <a:t>Primary users</a:t>
            </a:r>
            <a:endParaRPr lang="en-US" sz="850" dirty="0"/>
          </a:p>
        </p:txBody>
      </p:sp>
      <p:sp>
        <p:nvSpPr>
          <p:cNvPr id="8" name="Text 6"/>
          <p:cNvSpPr/>
          <p:nvPr/>
        </p:nvSpPr>
        <p:spPr>
          <a:xfrm>
            <a:off x="502920" y="1444752"/>
            <a:ext cx="2651760" cy="475488"/>
          </a:xfrm>
          <a:prstGeom prst="rect">
            <a:avLst/>
          </a:prstGeom>
          <a:noFill/>
          <a:ln/>
        </p:spPr>
        <p:txBody>
          <a:bodyPr wrap="square" lIns="0" tIns="0" rIns="0" bIns="0"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Rural &amp; semi-urban populations</a:t>
            </a:r>
            <a:endParaRPr lang="en-US" sz="1400" dirty="0"/>
          </a:p>
        </p:txBody>
      </p:sp>
      <p:sp>
        <p:nvSpPr>
          <p:cNvPr id="9" name="Shape 7"/>
          <p:cNvSpPr/>
          <p:nvPr/>
        </p:nvSpPr>
        <p:spPr>
          <a:xfrm>
            <a:off x="502920" y="1947672"/>
            <a:ext cx="320040" cy="27432"/>
          </a:xfrm>
          <a:prstGeom prst="rect">
            <a:avLst/>
          </a:prstGeom>
          <a:solidFill>
            <a:srgbClr val="7C3AED"/>
          </a:solidFill>
          <a:ln w="12700">
            <a:solidFill>
              <a:srgbClr val="7C3AED"/>
            </a:solidFill>
            <a:prstDash val="solid"/>
          </a:ln>
        </p:spPr>
        <p:txBody>
          <a:bodyPr/>
          <a:lstStyle/>
          <a:p>
            <a:endParaRPr lang="en-US"/>
          </a:p>
        </p:txBody>
      </p:sp>
      <p:sp>
        <p:nvSpPr>
          <p:cNvPr id="10" name="Shape 8"/>
          <p:cNvSpPr/>
          <p:nvPr/>
        </p:nvSpPr>
        <p:spPr>
          <a:xfrm>
            <a:off x="502920" y="2267712"/>
            <a:ext cx="73152" cy="73152"/>
          </a:xfrm>
          <a:prstGeom prst="ellipse">
            <a:avLst/>
          </a:prstGeom>
          <a:solidFill>
            <a:srgbClr val="7C3AED"/>
          </a:solidFill>
          <a:ln w="12700">
            <a:solidFill>
              <a:srgbClr val="7C3AED"/>
            </a:solidFill>
            <a:prstDash val="solid"/>
          </a:ln>
        </p:spPr>
        <p:txBody>
          <a:bodyPr/>
          <a:lstStyle/>
          <a:p>
            <a:endParaRPr lang="en-US"/>
          </a:p>
        </p:txBody>
      </p:sp>
      <p:sp>
        <p:nvSpPr>
          <p:cNvPr id="11" name="Text 9"/>
          <p:cNvSpPr/>
          <p:nvPr/>
        </p:nvSpPr>
        <p:spPr>
          <a:xfrm>
            <a:off x="685800" y="2148840"/>
            <a:ext cx="2468880" cy="438912"/>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Live 2+ hours from nearest hospital</a:t>
            </a:r>
            <a:endParaRPr lang="en-US" sz="1100" dirty="0"/>
          </a:p>
        </p:txBody>
      </p:sp>
      <p:sp>
        <p:nvSpPr>
          <p:cNvPr id="12" name="Shape 10"/>
          <p:cNvSpPr/>
          <p:nvPr/>
        </p:nvSpPr>
        <p:spPr>
          <a:xfrm>
            <a:off x="502920" y="2889504"/>
            <a:ext cx="73152" cy="73152"/>
          </a:xfrm>
          <a:prstGeom prst="ellipse">
            <a:avLst/>
          </a:prstGeom>
          <a:solidFill>
            <a:srgbClr val="7C3AED"/>
          </a:solidFill>
          <a:ln w="12700">
            <a:solidFill>
              <a:srgbClr val="7C3AED"/>
            </a:solidFill>
            <a:prstDash val="solid"/>
          </a:ln>
        </p:spPr>
        <p:txBody>
          <a:bodyPr/>
          <a:lstStyle/>
          <a:p>
            <a:endParaRPr lang="en-US"/>
          </a:p>
        </p:txBody>
      </p:sp>
      <p:sp>
        <p:nvSpPr>
          <p:cNvPr id="13" name="Text 11"/>
          <p:cNvSpPr/>
          <p:nvPr/>
        </p:nvSpPr>
        <p:spPr>
          <a:xfrm>
            <a:off x="685800" y="2770632"/>
            <a:ext cx="2468880" cy="438912"/>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Limited income for private consultation</a:t>
            </a:r>
            <a:endParaRPr lang="en-US" sz="1100" dirty="0"/>
          </a:p>
        </p:txBody>
      </p:sp>
      <p:sp>
        <p:nvSpPr>
          <p:cNvPr id="16" name="Shape 14"/>
          <p:cNvSpPr/>
          <p:nvPr/>
        </p:nvSpPr>
        <p:spPr>
          <a:xfrm>
            <a:off x="493776" y="3662172"/>
            <a:ext cx="73152" cy="73152"/>
          </a:xfrm>
          <a:prstGeom prst="ellipse">
            <a:avLst/>
          </a:prstGeom>
          <a:solidFill>
            <a:srgbClr val="7C3AED"/>
          </a:solidFill>
          <a:ln w="12700">
            <a:solidFill>
              <a:srgbClr val="7C3AED"/>
            </a:solidFill>
            <a:prstDash val="solid"/>
          </a:ln>
        </p:spPr>
        <p:txBody>
          <a:bodyPr/>
          <a:lstStyle/>
          <a:p>
            <a:endParaRPr lang="en-US"/>
          </a:p>
        </p:txBody>
      </p:sp>
      <p:sp>
        <p:nvSpPr>
          <p:cNvPr id="17" name="Text 15"/>
          <p:cNvSpPr/>
          <p:nvPr/>
        </p:nvSpPr>
        <p:spPr>
          <a:xfrm>
            <a:off x="713232" y="3442716"/>
            <a:ext cx="2468880" cy="438912"/>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Benefit most from AI-first triage</a:t>
            </a:r>
            <a:endParaRPr lang="en-US" sz="1100" dirty="0"/>
          </a:p>
        </p:txBody>
      </p:sp>
      <p:sp>
        <p:nvSpPr>
          <p:cNvPr id="18" name="Shape 16"/>
          <p:cNvSpPr/>
          <p:nvPr/>
        </p:nvSpPr>
        <p:spPr>
          <a:xfrm>
            <a:off x="3383280" y="1188720"/>
            <a:ext cx="91440" cy="91440"/>
          </a:xfrm>
          <a:prstGeom prst="ellipse">
            <a:avLst/>
          </a:prstGeom>
          <a:solidFill>
            <a:srgbClr val="2563EB"/>
          </a:solidFill>
          <a:ln w="12700">
            <a:solidFill>
              <a:srgbClr val="2563EB"/>
            </a:solidFill>
            <a:prstDash val="solid"/>
          </a:ln>
        </p:spPr>
        <p:txBody>
          <a:bodyPr/>
          <a:lstStyle/>
          <a:p>
            <a:endParaRPr lang="en-US"/>
          </a:p>
        </p:txBody>
      </p:sp>
      <p:sp>
        <p:nvSpPr>
          <p:cNvPr id="19" name="Text 17"/>
          <p:cNvSpPr/>
          <p:nvPr/>
        </p:nvSpPr>
        <p:spPr>
          <a:xfrm>
            <a:off x="3547872" y="1133856"/>
            <a:ext cx="2560320" cy="237744"/>
          </a:xfrm>
          <a:prstGeom prst="rect">
            <a:avLst/>
          </a:prstGeom>
          <a:noFill/>
          <a:ln/>
        </p:spPr>
        <p:txBody>
          <a:bodyPr wrap="square" lIns="0" tIns="0" rIns="0" bIns="0" rtlCol="0" anchor="ctr"/>
          <a:lstStyle/>
          <a:p>
            <a:pPr marL="0" indent="0">
              <a:buNone/>
            </a:pPr>
            <a:r>
              <a:rPr lang="en-US" sz="850" b="1" kern="0" spc="100" dirty="0">
                <a:solidFill>
                  <a:srgbClr val="2563EB"/>
                </a:solidFill>
                <a:latin typeface="Calibri" pitchFamily="34" charset="0"/>
                <a:ea typeface="Calibri" pitchFamily="34" charset="-122"/>
                <a:cs typeface="Calibri" pitchFamily="34" charset="-120"/>
              </a:rPr>
              <a:t>Secondary users</a:t>
            </a:r>
            <a:endParaRPr lang="en-US" sz="850" dirty="0"/>
          </a:p>
        </p:txBody>
      </p:sp>
      <p:sp>
        <p:nvSpPr>
          <p:cNvPr id="20" name="Text 18"/>
          <p:cNvSpPr/>
          <p:nvPr/>
        </p:nvSpPr>
        <p:spPr>
          <a:xfrm>
            <a:off x="3383280" y="1444752"/>
            <a:ext cx="2651760" cy="475488"/>
          </a:xfrm>
          <a:prstGeom prst="rect">
            <a:avLst/>
          </a:prstGeom>
          <a:noFill/>
          <a:ln/>
        </p:spPr>
        <p:txBody>
          <a:bodyPr wrap="square" lIns="0" tIns="0" rIns="0" bIns="0"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Community health workers</a:t>
            </a:r>
            <a:endParaRPr lang="en-US" sz="1400" dirty="0"/>
          </a:p>
        </p:txBody>
      </p:sp>
      <p:sp>
        <p:nvSpPr>
          <p:cNvPr id="21" name="Shape 19"/>
          <p:cNvSpPr/>
          <p:nvPr/>
        </p:nvSpPr>
        <p:spPr>
          <a:xfrm>
            <a:off x="3383280" y="1947672"/>
            <a:ext cx="320040" cy="27432"/>
          </a:xfrm>
          <a:prstGeom prst="rect">
            <a:avLst/>
          </a:prstGeom>
          <a:solidFill>
            <a:srgbClr val="2563EB"/>
          </a:solidFill>
          <a:ln w="12700">
            <a:solidFill>
              <a:srgbClr val="2563EB"/>
            </a:solidFill>
            <a:prstDash val="solid"/>
          </a:ln>
        </p:spPr>
        <p:txBody>
          <a:bodyPr/>
          <a:lstStyle/>
          <a:p>
            <a:endParaRPr lang="en-US"/>
          </a:p>
        </p:txBody>
      </p:sp>
      <p:sp>
        <p:nvSpPr>
          <p:cNvPr id="23" name="Text 21"/>
          <p:cNvSpPr/>
          <p:nvPr/>
        </p:nvSpPr>
        <p:spPr>
          <a:xfrm>
            <a:off x="3566160" y="2148840"/>
            <a:ext cx="2468880" cy="438912"/>
          </a:xfrm>
          <a:prstGeom prst="rect">
            <a:avLst/>
          </a:prstGeom>
          <a:noFill/>
          <a:ln/>
        </p:spPr>
        <p:txBody>
          <a:bodyPr wrap="square" lIns="0" tIns="0" rIns="0" bIns="0" rtlCol="0" anchor="ctr"/>
          <a:lstStyle/>
          <a:p>
            <a:pPr marL="0" indent="0">
              <a:buNone/>
            </a:pPr>
            <a:endParaRPr lang="en-US" sz="1100" dirty="0"/>
          </a:p>
        </p:txBody>
      </p:sp>
      <p:sp>
        <p:nvSpPr>
          <p:cNvPr id="24" name="Shape 22"/>
          <p:cNvSpPr/>
          <p:nvPr/>
        </p:nvSpPr>
        <p:spPr>
          <a:xfrm>
            <a:off x="3352800" y="2334006"/>
            <a:ext cx="73152" cy="73152"/>
          </a:xfrm>
          <a:prstGeom prst="ellipse">
            <a:avLst/>
          </a:prstGeom>
          <a:solidFill>
            <a:srgbClr val="2563EB"/>
          </a:solidFill>
          <a:ln w="12700">
            <a:solidFill>
              <a:srgbClr val="2563EB"/>
            </a:solidFill>
            <a:prstDash val="solid"/>
          </a:ln>
        </p:spPr>
        <p:txBody>
          <a:bodyPr/>
          <a:lstStyle/>
          <a:p>
            <a:endParaRPr lang="en-US"/>
          </a:p>
        </p:txBody>
      </p:sp>
      <p:sp>
        <p:nvSpPr>
          <p:cNvPr id="25" name="Text 23"/>
          <p:cNvSpPr/>
          <p:nvPr/>
        </p:nvSpPr>
        <p:spPr>
          <a:xfrm>
            <a:off x="3547872" y="2138172"/>
            <a:ext cx="2468880" cy="438912"/>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Elderly managing chronic conditions</a:t>
            </a:r>
            <a:endParaRPr lang="en-US" sz="1100" dirty="0"/>
          </a:p>
        </p:txBody>
      </p:sp>
      <p:sp>
        <p:nvSpPr>
          <p:cNvPr id="26" name="Shape 24"/>
          <p:cNvSpPr/>
          <p:nvPr/>
        </p:nvSpPr>
        <p:spPr>
          <a:xfrm>
            <a:off x="3352800" y="2953512"/>
            <a:ext cx="73152" cy="73152"/>
          </a:xfrm>
          <a:prstGeom prst="ellipse">
            <a:avLst/>
          </a:prstGeom>
          <a:solidFill>
            <a:srgbClr val="2563EB"/>
          </a:solidFill>
          <a:ln w="12700">
            <a:solidFill>
              <a:srgbClr val="2563EB"/>
            </a:solidFill>
            <a:prstDash val="solid"/>
          </a:ln>
        </p:spPr>
        <p:txBody>
          <a:bodyPr/>
          <a:lstStyle/>
          <a:p>
            <a:endParaRPr lang="en-US"/>
          </a:p>
        </p:txBody>
      </p:sp>
      <p:sp>
        <p:nvSpPr>
          <p:cNvPr id="27" name="Text 25"/>
          <p:cNvSpPr/>
          <p:nvPr/>
        </p:nvSpPr>
        <p:spPr>
          <a:xfrm>
            <a:off x="3566160" y="2820924"/>
            <a:ext cx="2468880" cy="438912"/>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Caregivers making household health decisions</a:t>
            </a:r>
            <a:endParaRPr lang="en-US" sz="1100" dirty="0"/>
          </a:p>
        </p:txBody>
      </p:sp>
      <p:sp>
        <p:nvSpPr>
          <p:cNvPr id="28" name="Shape 26"/>
          <p:cNvSpPr/>
          <p:nvPr/>
        </p:nvSpPr>
        <p:spPr>
          <a:xfrm>
            <a:off x="3368040" y="3545205"/>
            <a:ext cx="73152" cy="73152"/>
          </a:xfrm>
          <a:prstGeom prst="ellipse">
            <a:avLst/>
          </a:prstGeom>
          <a:solidFill>
            <a:srgbClr val="2563EB"/>
          </a:solidFill>
          <a:ln w="12700">
            <a:solidFill>
              <a:srgbClr val="2563EB"/>
            </a:solidFill>
            <a:prstDash val="solid"/>
          </a:ln>
        </p:spPr>
        <p:txBody>
          <a:bodyPr/>
          <a:lstStyle/>
          <a:p>
            <a:endParaRPr lang="en-US"/>
          </a:p>
        </p:txBody>
      </p:sp>
      <p:sp>
        <p:nvSpPr>
          <p:cNvPr id="29" name="Text 27"/>
          <p:cNvSpPr/>
          <p:nvPr/>
        </p:nvSpPr>
        <p:spPr>
          <a:xfrm>
            <a:off x="3566160" y="3378708"/>
            <a:ext cx="2468880" cy="438912"/>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Non-specialist field workers</a:t>
            </a:r>
            <a:endParaRPr lang="en-US" sz="1100" dirty="0"/>
          </a:p>
        </p:txBody>
      </p:sp>
      <p:sp>
        <p:nvSpPr>
          <p:cNvPr id="30" name="Shape 28"/>
          <p:cNvSpPr/>
          <p:nvPr/>
        </p:nvSpPr>
        <p:spPr>
          <a:xfrm>
            <a:off x="6263640" y="1188720"/>
            <a:ext cx="91440" cy="91440"/>
          </a:xfrm>
          <a:prstGeom prst="ellipse">
            <a:avLst/>
          </a:prstGeom>
          <a:solidFill>
            <a:srgbClr val="0D9488"/>
          </a:solidFill>
          <a:ln w="12700">
            <a:solidFill>
              <a:srgbClr val="0D9488"/>
            </a:solidFill>
            <a:prstDash val="solid"/>
          </a:ln>
        </p:spPr>
        <p:txBody>
          <a:bodyPr/>
          <a:lstStyle/>
          <a:p>
            <a:endParaRPr lang="en-US"/>
          </a:p>
        </p:txBody>
      </p:sp>
      <p:sp>
        <p:nvSpPr>
          <p:cNvPr id="31" name="Text 29"/>
          <p:cNvSpPr/>
          <p:nvPr/>
        </p:nvSpPr>
        <p:spPr>
          <a:xfrm>
            <a:off x="6428232" y="1133856"/>
            <a:ext cx="2560320" cy="237744"/>
          </a:xfrm>
          <a:prstGeom prst="rect">
            <a:avLst/>
          </a:prstGeom>
          <a:noFill/>
          <a:ln/>
        </p:spPr>
        <p:txBody>
          <a:bodyPr wrap="square" lIns="0" tIns="0" rIns="0" bIns="0" rtlCol="0" anchor="ctr"/>
          <a:lstStyle/>
          <a:p>
            <a:pPr marL="0" indent="0">
              <a:buNone/>
            </a:pPr>
            <a:r>
              <a:rPr lang="en-US" sz="850" b="1" kern="0" spc="100" dirty="0">
                <a:solidFill>
                  <a:srgbClr val="0D9488"/>
                </a:solidFill>
                <a:latin typeface="Calibri" pitchFamily="34" charset="0"/>
                <a:ea typeface="Calibri" pitchFamily="34" charset="-122"/>
                <a:cs typeface="Calibri" pitchFamily="34" charset="-120"/>
              </a:rPr>
              <a:t>Accessibility users</a:t>
            </a:r>
            <a:endParaRPr lang="en-US" sz="850" dirty="0"/>
          </a:p>
        </p:txBody>
      </p:sp>
      <p:sp>
        <p:nvSpPr>
          <p:cNvPr id="32" name="Text 30"/>
          <p:cNvSpPr/>
          <p:nvPr/>
        </p:nvSpPr>
        <p:spPr>
          <a:xfrm>
            <a:off x="6263640" y="1444752"/>
            <a:ext cx="2651760" cy="475488"/>
          </a:xfrm>
          <a:prstGeom prst="rect">
            <a:avLst/>
          </a:prstGeom>
          <a:noFill/>
          <a:ln/>
        </p:spPr>
        <p:txBody>
          <a:bodyPr wrap="square" lIns="0" tIns="0" rIns="0" bIns="0" rtlCol="0" anchor="ctr"/>
          <a:lstStyle/>
          <a:p>
            <a:pPr marL="0" indent="0">
              <a:buNone/>
            </a:pPr>
            <a:r>
              <a:rPr lang="en-US" sz="1400" b="1" dirty="0">
                <a:solidFill>
                  <a:srgbClr val="111111"/>
                </a:solidFill>
                <a:latin typeface="Calibri" pitchFamily="34" charset="0"/>
                <a:ea typeface="Calibri" pitchFamily="34" charset="-122"/>
                <a:cs typeface="Calibri" pitchFamily="34" charset="-120"/>
              </a:rPr>
              <a:t>Low-literacy &amp; impaired users</a:t>
            </a:r>
            <a:endParaRPr lang="en-US" sz="1400" dirty="0"/>
          </a:p>
        </p:txBody>
      </p:sp>
      <p:sp>
        <p:nvSpPr>
          <p:cNvPr id="33" name="Shape 31"/>
          <p:cNvSpPr/>
          <p:nvPr/>
        </p:nvSpPr>
        <p:spPr>
          <a:xfrm>
            <a:off x="6263640" y="1947672"/>
            <a:ext cx="320040" cy="27432"/>
          </a:xfrm>
          <a:prstGeom prst="rect">
            <a:avLst/>
          </a:prstGeom>
          <a:solidFill>
            <a:srgbClr val="0D9488"/>
          </a:solidFill>
          <a:ln w="12700">
            <a:solidFill>
              <a:srgbClr val="0D9488"/>
            </a:solidFill>
            <a:prstDash val="solid"/>
          </a:ln>
        </p:spPr>
        <p:txBody>
          <a:bodyPr/>
          <a:lstStyle/>
          <a:p>
            <a:endParaRPr lang="en-US"/>
          </a:p>
        </p:txBody>
      </p:sp>
      <p:sp>
        <p:nvSpPr>
          <p:cNvPr id="34" name="Shape 32"/>
          <p:cNvSpPr/>
          <p:nvPr/>
        </p:nvSpPr>
        <p:spPr>
          <a:xfrm>
            <a:off x="6263640" y="2267712"/>
            <a:ext cx="73152" cy="73152"/>
          </a:xfrm>
          <a:prstGeom prst="ellipse">
            <a:avLst/>
          </a:prstGeom>
          <a:solidFill>
            <a:srgbClr val="0D9488"/>
          </a:solidFill>
          <a:ln w="12700">
            <a:solidFill>
              <a:srgbClr val="0D9488"/>
            </a:solidFill>
            <a:prstDash val="solid"/>
          </a:ln>
        </p:spPr>
        <p:txBody>
          <a:bodyPr/>
          <a:lstStyle/>
          <a:p>
            <a:endParaRPr lang="en-US"/>
          </a:p>
        </p:txBody>
      </p:sp>
      <p:sp>
        <p:nvSpPr>
          <p:cNvPr id="35" name="Text 33"/>
          <p:cNvSpPr/>
          <p:nvPr/>
        </p:nvSpPr>
        <p:spPr>
          <a:xfrm>
            <a:off x="6446520" y="2148840"/>
            <a:ext cx="2468880" cy="438912"/>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Users who can only interact by voice</a:t>
            </a:r>
            <a:endParaRPr lang="en-US" sz="1100" dirty="0"/>
          </a:p>
        </p:txBody>
      </p:sp>
      <p:sp>
        <p:nvSpPr>
          <p:cNvPr id="36" name="Shape 34"/>
          <p:cNvSpPr/>
          <p:nvPr/>
        </p:nvSpPr>
        <p:spPr>
          <a:xfrm>
            <a:off x="6263640" y="2889504"/>
            <a:ext cx="73152" cy="73152"/>
          </a:xfrm>
          <a:prstGeom prst="ellipse">
            <a:avLst/>
          </a:prstGeom>
          <a:solidFill>
            <a:srgbClr val="0D9488"/>
          </a:solidFill>
          <a:ln w="12700">
            <a:solidFill>
              <a:srgbClr val="0D9488"/>
            </a:solidFill>
            <a:prstDash val="solid"/>
          </a:ln>
        </p:spPr>
        <p:txBody>
          <a:bodyPr/>
          <a:lstStyle/>
          <a:p>
            <a:endParaRPr lang="en-US"/>
          </a:p>
        </p:txBody>
      </p:sp>
      <p:sp>
        <p:nvSpPr>
          <p:cNvPr id="37" name="Text 35"/>
          <p:cNvSpPr/>
          <p:nvPr/>
        </p:nvSpPr>
        <p:spPr>
          <a:xfrm>
            <a:off x="6446520" y="2770632"/>
            <a:ext cx="2468880" cy="438912"/>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Visually impaired — need spoken output</a:t>
            </a:r>
            <a:endParaRPr lang="en-US" sz="1100" dirty="0"/>
          </a:p>
        </p:txBody>
      </p:sp>
      <p:sp>
        <p:nvSpPr>
          <p:cNvPr id="38" name="Shape 36"/>
          <p:cNvSpPr/>
          <p:nvPr/>
        </p:nvSpPr>
        <p:spPr>
          <a:xfrm>
            <a:off x="6263640" y="3511296"/>
            <a:ext cx="73152" cy="73152"/>
          </a:xfrm>
          <a:prstGeom prst="ellipse">
            <a:avLst/>
          </a:prstGeom>
          <a:solidFill>
            <a:srgbClr val="0D9488"/>
          </a:solidFill>
          <a:ln w="12700">
            <a:solidFill>
              <a:srgbClr val="0D9488"/>
            </a:solidFill>
            <a:prstDash val="solid"/>
          </a:ln>
        </p:spPr>
        <p:txBody>
          <a:bodyPr/>
          <a:lstStyle/>
          <a:p>
            <a:endParaRPr lang="en-US"/>
          </a:p>
        </p:txBody>
      </p:sp>
      <p:sp>
        <p:nvSpPr>
          <p:cNvPr id="39" name="Text 37"/>
          <p:cNvSpPr/>
          <p:nvPr/>
        </p:nvSpPr>
        <p:spPr>
          <a:xfrm>
            <a:off x="6446520" y="3392424"/>
            <a:ext cx="2468880" cy="438912"/>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Non-Nepali-script-literate populations</a:t>
            </a:r>
            <a:endParaRPr lang="en-US" sz="1100" dirty="0"/>
          </a:p>
        </p:txBody>
      </p:sp>
      <p:sp>
        <p:nvSpPr>
          <p:cNvPr id="40" name="Shape 38"/>
          <p:cNvSpPr/>
          <p:nvPr/>
        </p:nvSpPr>
        <p:spPr>
          <a:xfrm>
            <a:off x="6263640" y="4133088"/>
            <a:ext cx="73152" cy="73152"/>
          </a:xfrm>
          <a:prstGeom prst="ellipse">
            <a:avLst/>
          </a:prstGeom>
          <a:solidFill>
            <a:srgbClr val="0D9488"/>
          </a:solidFill>
          <a:ln w="12700">
            <a:solidFill>
              <a:srgbClr val="0D9488"/>
            </a:solidFill>
            <a:prstDash val="solid"/>
          </a:ln>
        </p:spPr>
        <p:txBody>
          <a:bodyPr/>
          <a:lstStyle/>
          <a:p>
            <a:endParaRPr lang="en-US"/>
          </a:p>
        </p:txBody>
      </p:sp>
      <p:sp>
        <p:nvSpPr>
          <p:cNvPr id="41" name="Text 39"/>
          <p:cNvSpPr/>
          <p:nvPr/>
        </p:nvSpPr>
        <p:spPr>
          <a:xfrm>
            <a:off x="6446520" y="4014216"/>
            <a:ext cx="2468880" cy="438912"/>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Elderly with limited tech familiarity</a:t>
            </a:r>
            <a:endParaRPr lang="en-US" sz="1100" dirty="0"/>
          </a:p>
        </p:txBody>
      </p:sp>
      <p:sp>
        <p:nvSpPr>
          <p:cNvPr id="42" name="Shape 40"/>
          <p:cNvSpPr/>
          <p:nvPr/>
        </p:nvSpPr>
        <p:spPr>
          <a:xfrm>
            <a:off x="3259836" y="1133856"/>
            <a:ext cx="13716" cy="3566160"/>
          </a:xfrm>
          <a:prstGeom prst="rect">
            <a:avLst/>
          </a:prstGeom>
          <a:solidFill>
            <a:srgbClr val="E8E8E8"/>
          </a:solidFill>
          <a:ln w="12700">
            <a:solidFill>
              <a:srgbClr val="E8E8E8"/>
            </a:solidFill>
            <a:prstDash val="solid"/>
          </a:ln>
        </p:spPr>
        <p:txBody>
          <a:bodyPr/>
          <a:lstStyle/>
          <a:p>
            <a:endParaRPr lang="en-US"/>
          </a:p>
        </p:txBody>
      </p:sp>
      <p:sp>
        <p:nvSpPr>
          <p:cNvPr id="43" name="Shape 41"/>
          <p:cNvSpPr/>
          <p:nvPr/>
        </p:nvSpPr>
        <p:spPr>
          <a:xfrm>
            <a:off x="6108192" y="1143000"/>
            <a:ext cx="13716" cy="3566160"/>
          </a:xfrm>
          <a:prstGeom prst="rect">
            <a:avLst/>
          </a:prstGeom>
          <a:solidFill>
            <a:srgbClr val="E8E8E8"/>
          </a:solidFill>
          <a:ln w="12700">
            <a:solidFill>
              <a:srgbClr val="E8E8E8"/>
            </a:solidFill>
            <a:prstDash val="solid"/>
          </a:ln>
        </p:spPr>
        <p:txBody>
          <a:bodyPr/>
          <a:lstStyle/>
          <a:p>
            <a:endParaRPr lang="en-US"/>
          </a:p>
        </p:txBody>
      </p:sp>
      <p:sp>
        <p:nvSpPr>
          <p:cNvPr id="44" name="Text 42"/>
          <p:cNvSpPr/>
          <p:nvPr/>
        </p:nvSpPr>
        <p:spPr>
          <a:xfrm>
            <a:off x="0" y="4869180"/>
            <a:ext cx="9144000" cy="256032"/>
          </a:xfrm>
          <a:prstGeom prst="rect">
            <a:avLst/>
          </a:prstGeom>
          <a:noFill/>
          <a:ln/>
        </p:spPr>
        <p:txBody>
          <a:bodyPr wrap="square" rtlCol="0" anchor="ctr"/>
          <a:lstStyle/>
          <a:p>
            <a:pPr marL="0" indent="0" algn="r">
              <a:buNone/>
            </a:pPr>
            <a:r>
              <a:rPr lang="en-US" sz="850" dirty="0">
                <a:solidFill>
                  <a:srgbClr val="E8E8E8"/>
                </a:solidFill>
                <a:latin typeface="Calibri" pitchFamily="34" charset="0"/>
                <a:ea typeface="Calibri" pitchFamily="34" charset="-122"/>
                <a:cs typeface="Calibri" pitchFamily="34" charset="-120"/>
              </a:rPr>
              <a:t>05 / 08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589788"/>
            <a:ext cx="7315200" cy="201168"/>
          </a:xfrm>
          <a:prstGeom prst="rect">
            <a:avLst/>
          </a:prstGeom>
          <a:noFill/>
          <a:ln/>
        </p:spPr>
        <p:txBody>
          <a:bodyPr wrap="square" lIns="0" tIns="0" rIns="0" bIns="0" rtlCol="0" anchor="ctr"/>
          <a:lstStyle/>
          <a:p>
            <a:pPr marL="0" indent="0">
              <a:buNone/>
            </a:pPr>
            <a:r>
              <a:rPr lang="en-US" sz="2000" b="1" kern="0" spc="300" dirty="0">
                <a:latin typeface="Cambria" panose="02040503050406030204" pitchFamily="18" charset="0"/>
                <a:ea typeface="Cambria" panose="02040503050406030204" pitchFamily="18" charset="0"/>
                <a:cs typeface="Calibri" pitchFamily="34" charset="-120"/>
              </a:rPr>
              <a:t>TECHNOLOGY STACK</a:t>
            </a:r>
            <a:endParaRPr lang="en-US" sz="2000" dirty="0">
              <a:latin typeface="Cambria" panose="02040503050406030204" pitchFamily="18" charset="0"/>
              <a:ea typeface="Cambria" panose="02040503050406030204" pitchFamily="18" charset="0"/>
            </a:endParaRPr>
          </a:p>
        </p:txBody>
      </p:sp>
      <p:sp>
        <p:nvSpPr>
          <p:cNvPr id="4" name="Text 2"/>
          <p:cNvSpPr/>
          <p:nvPr/>
        </p:nvSpPr>
        <p:spPr>
          <a:xfrm>
            <a:off x="502920" y="420624"/>
            <a:ext cx="8229600" cy="530352"/>
          </a:xfrm>
          <a:prstGeom prst="rect">
            <a:avLst/>
          </a:prstGeom>
          <a:noFill/>
          <a:ln/>
        </p:spPr>
        <p:txBody>
          <a:bodyPr wrap="square" lIns="0" tIns="0" rIns="0" bIns="0" rtlCol="0" anchor="ctr"/>
          <a:lstStyle/>
          <a:p>
            <a:pPr marL="0" indent="0">
              <a:buNone/>
            </a:pPr>
            <a:endParaRPr lang="en-US" sz="2600" dirty="0"/>
          </a:p>
        </p:txBody>
      </p:sp>
      <p:sp>
        <p:nvSpPr>
          <p:cNvPr id="5" name="Shape 3"/>
          <p:cNvSpPr/>
          <p:nvPr/>
        </p:nvSpPr>
        <p:spPr>
          <a:xfrm>
            <a:off x="502920" y="1024128"/>
            <a:ext cx="8138160" cy="13716"/>
          </a:xfrm>
          <a:prstGeom prst="rect">
            <a:avLst/>
          </a:prstGeom>
          <a:solidFill>
            <a:srgbClr val="E8E8E8"/>
          </a:solidFill>
          <a:ln w="12700">
            <a:solidFill>
              <a:srgbClr val="E8E8E8"/>
            </a:solidFill>
            <a:prstDash val="solid"/>
          </a:ln>
        </p:spPr>
        <p:txBody>
          <a:bodyPr/>
          <a:lstStyle/>
          <a:p>
            <a:endParaRPr lang="en-US"/>
          </a:p>
        </p:txBody>
      </p:sp>
      <p:sp>
        <p:nvSpPr>
          <p:cNvPr id="6" name="Shape 4"/>
          <p:cNvSpPr/>
          <p:nvPr/>
        </p:nvSpPr>
        <p:spPr>
          <a:xfrm>
            <a:off x="502920" y="1115568"/>
            <a:ext cx="8138160" cy="13716"/>
          </a:xfrm>
          <a:prstGeom prst="rect">
            <a:avLst/>
          </a:prstGeom>
          <a:solidFill>
            <a:srgbClr val="E8E8E8"/>
          </a:solidFill>
          <a:ln w="12700">
            <a:solidFill>
              <a:srgbClr val="E8E8E8"/>
            </a:solidFill>
            <a:prstDash val="solid"/>
          </a:ln>
        </p:spPr>
        <p:txBody>
          <a:bodyPr/>
          <a:lstStyle/>
          <a:p>
            <a:endParaRPr lang="en-US"/>
          </a:p>
        </p:txBody>
      </p:sp>
      <p:sp>
        <p:nvSpPr>
          <p:cNvPr id="7" name="Shape 5"/>
          <p:cNvSpPr/>
          <p:nvPr/>
        </p:nvSpPr>
        <p:spPr>
          <a:xfrm>
            <a:off x="502920" y="1389888"/>
            <a:ext cx="91440" cy="91440"/>
          </a:xfrm>
          <a:prstGeom prst="ellipse">
            <a:avLst/>
          </a:prstGeom>
          <a:solidFill>
            <a:srgbClr val="2563EB"/>
          </a:solidFill>
          <a:ln w="12700">
            <a:solidFill>
              <a:srgbClr val="2563EB"/>
            </a:solidFill>
            <a:prstDash val="solid"/>
          </a:ln>
        </p:spPr>
        <p:txBody>
          <a:bodyPr/>
          <a:lstStyle/>
          <a:p>
            <a:endParaRPr lang="en-US"/>
          </a:p>
        </p:txBody>
      </p:sp>
      <p:sp>
        <p:nvSpPr>
          <p:cNvPr id="8" name="Text 6"/>
          <p:cNvSpPr/>
          <p:nvPr/>
        </p:nvSpPr>
        <p:spPr>
          <a:xfrm>
            <a:off x="694944" y="1188720"/>
            <a:ext cx="2011680" cy="274320"/>
          </a:xfrm>
          <a:prstGeom prst="rect">
            <a:avLst/>
          </a:prstGeom>
          <a:noFill/>
          <a:ln/>
        </p:spPr>
        <p:txBody>
          <a:bodyPr wrap="square" lIns="0" tIns="0" rIns="0" bIns="0"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gpt-5.4</a:t>
            </a:r>
            <a:endParaRPr lang="en-US" sz="1300" dirty="0"/>
          </a:p>
        </p:txBody>
      </p:sp>
      <p:sp>
        <p:nvSpPr>
          <p:cNvPr id="9" name="Text 7"/>
          <p:cNvSpPr/>
          <p:nvPr/>
        </p:nvSpPr>
        <p:spPr>
          <a:xfrm>
            <a:off x="694944" y="1499616"/>
            <a:ext cx="2011680" cy="219456"/>
          </a:xfrm>
          <a:prstGeom prst="rect">
            <a:avLst/>
          </a:prstGeom>
          <a:noFill/>
          <a:ln/>
        </p:spPr>
        <p:txBody>
          <a:bodyPr wrap="square" lIns="0" tIns="0" rIns="0" bIns="0" rtlCol="0" anchor="ctr"/>
          <a:lstStyle/>
          <a:p>
            <a:pPr marL="0" indent="0">
              <a:buNone/>
            </a:pPr>
            <a:r>
              <a:rPr lang="en-US" sz="950" dirty="0">
                <a:solidFill>
                  <a:srgbClr val="999999"/>
                </a:solidFill>
                <a:latin typeface="Calibri" pitchFamily="34" charset="0"/>
                <a:ea typeface="Calibri" pitchFamily="34" charset="-122"/>
                <a:cs typeface="Calibri" pitchFamily="34" charset="-120"/>
              </a:rPr>
              <a:t>Reasoning &amp; Vision</a:t>
            </a:r>
            <a:endParaRPr lang="en-US" sz="950" dirty="0"/>
          </a:p>
        </p:txBody>
      </p:sp>
      <p:sp>
        <p:nvSpPr>
          <p:cNvPr id="10" name="Shape 8"/>
          <p:cNvSpPr/>
          <p:nvPr/>
        </p:nvSpPr>
        <p:spPr>
          <a:xfrm>
            <a:off x="2834640" y="1225296"/>
            <a:ext cx="13716" cy="493776"/>
          </a:xfrm>
          <a:prstGeom prst="rect">
            <a:avLst/>
          </a:prstGeom>
          <a:solidFill>
            <a:srgbClr val="E8E8E8"/>
          </a:solidFill>
          <a:ln w="12700">
            <a:solidFill>
              <a:srgbClr val="E8E8E8"/>
            </a:solidFill>
            <a:prstDash val="solid"/>
          </a:ln>
        </p:spPr>
        <p:txBody>
          <a:bodyPr/>
          <a:lstStyle/>
          <a:p>
            <a:endParaRPr lang="en-US"/>
          </a:p>
        </p:txBody>
      </p:sp>
      <p:sp>
        <p:nvSpPr>
          <p:cNvPr id="11" name="Text 9"/>
          <p:cNvSpPr/>
          <p:nvPr/>
        </p:nvSpPr>
        <p:spPr>
          <a:xfrm>
            <a:off x="2980944" y="1261872"/>
            <a:ext cx="5120640" cy="420624"/>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AI Diagnosis  ·  Report Scan  ·  Medicine Detection</a:t>
            </a:r>
            <a:endParaRPr lang="en-US" sz="1100" dirty="0"/>
          </a:p>
        </p:txBody>
      </p:sp>
      <p:sp>
        <p:nvSpPr>
          <p:cNvPr id="12" name="Text 10"/>
          <p:cNvSpPr/>
          <p:nvPr/>
        </p:nvSpPr>
        <p:spPr>
          <a:xfrm>
            <a:off x="8275320" y="1316736"/>
            <a:ext cx="731520" cy="256032"/>
          </a:xfrm>
          <a:prstGeom prst="rect">
            <a:avLst/>
          </a:prstGeom>
          <a:noFill/>
          <a:ln/>
        </p:spPr>
        <p:txBody>
          <a:bodyPr wrap="square" lIns="0" tIns="0" rIns="0" bIns="0" rtlCol="0" anchor="ctr"/>
          <a:lstStyle/>
          <a:p>
            <a:pPr marL="0" indent="0" algn="r">
              <a:buNone/>
            </a:pPr>
            <a:r>
              <a:rPr lang="en-US" sz="950" dirty="0">
                <a:solidFill>
                  <a:srgbClr val="999999"/>
                </a:solidFill>
                <a:latin typeface="Calibri" pitchFamily="34" charset="0"/>
                <a:ea typeface="Calibri" pitchFamily="34" charset="-122"/>
                <a:cs typeface="Calibri" pitchFamily="34" charset="-120"/>
              </a:rPr>
              <a:t>10 RPM</a:t>
            </a:r>
            <a:endParaRPr lang="en-US" sz="950" dirty="0"/>
          </a:p>
        </p:txBody>
      </p:sp>
      <p:sp>
        <p:nvSpPr>
          <p:cNvPr id="13" name="Shape 11"/>
          <p:cNvSpPr/>
          <p:nvPr/>
        </p:nvSpPr>
        <p:spPr>
          <a:xfrm>
            <a:off x="502920" y="1865376"/>
            <a:ext cx="8138160" cy="13716"/>
          </a:xfrm>
          <a:prstGeom prst="rect">
            <a:avLst/>
          </a:prstGeom>
          <a:solidFill>
            <a:srgbClr val="E8E8E8"/>
          </a:solidFill>
          <a:ln w="12700">
            <a:solidFill>
              <a:srgbClr val="E8E8E8"/>
            </a:solidFill>
            <a:prstDash val="solid"/>
          </a:ln>
        </p:spPr>
        <p:txBody>
          <a:bodyPr/>
          <a:lstStyle/>
          <a:p>
            <a:endParaRPr lang="en-US"/>
          </a:p>
        </p:txBody>
      </p:sp>
      <p:sp>
        <p:nvSpPr>
          <p:cNvPr id="14" name="Shape 12"/>
          <p:cNvSpPr/>
          <p:nvPr/>
        </p:nvSpPr>
        <p:spPr>
          <a:xfrm>
            <a:off x="502920" y="2139696"/>
            <a:ext cx="91440" cy="91440"/>
          </a:xfrm>
          <a:prstGeom prst="ellipse">
            <a:avLst/>
          </a:prstGeom>
          <a:solidFill>
            <a:srgbClr val="0D9488"/>
          </a:solidFill>
          <a:ln w="12700">
            <a:solidFill>
              <a:srgbClr val="0D9488"/>
            </a:solidFill>
            <a:prstDash val="solid"/>
          </a:ln>
        </p:spPr>
        <p:txBody>
          <a:bodyPr/>
          <a:lstStyle/>
          <a:p>
            <a:endParaRPr lang="en-US"/>
          </a:p>
        </p:txBody>
      </p:sp>
      <p:sp>
        <p:nvSpPr>
          <p:cNvPr id="15" name="Text 13"/>
          <p:cNvSpPr/>
          <p:nvPr/>
        </p:nvSpPr>
        <p:spPr>
          <a:xfrm>
            <a:off x="694944" y="1938528"/>
            <a:ext cx="2011680" cy="274320"/>
          </a:xfrm>
          <a:prstGeom prst="rect">
            <a:avLst/>
          </a:prstGeom>
          <a:noFill/>
          <a:ln/>
        </p:spPr>
        <p:txBody>
          <a:bodyPr wrap="square" lIns="0" tIns="0" rIns="0" bIns="0" rtlCol="0" anchor="ctr"/>
          <a:lstStyle/>
          <a:p>
            <a:pPr marL="0" indent="0">
              <a:buNone/>
            </a:pPr>
            <a:r>
              <a:rPr lang="en-US" sz="1300" b="1" dirty="0">
                <a:solidFill>
                  <a:srgbClr val="0D9488"/>
                </a:solidFill>
                <a:latin typeface="Calibri" pitchFamily="34" charset="0"/>
                <a:ea typeface="Calibri" pitchFamily="34" charset="-122"/>
                <a:cs typeface="Calibri" pitchFamily="34" charset="-120"/>
              </a:rPr>
              <a:t>gpt-4o-transcribe</a:t>
            </a:r>
            <a:endParaRPr lang="en-US" sz="1300" dirty="0"/>
          </a:p>
        </p:txBody>
      </p:sp>
      <p:sp>
        <p:nvSpPr>
          <p:cNvPr id="16" name="Text 14"/>
          <p:cNvSpPr/>
          <p:nvPr/>
        </p:nvSpPr>
        <p:spPr>
          <a:xfrm>
            <a:off x="694944" y="2249424"/>
            <a:ext cx="2011680" cy="219456"/>
          </a:xfrm>
          <a:prstGeom prst="rect">
            <a:avLst/>
          </a:prstGeom>
          <a:noFill/>
          <a:ln/>
        </p:spPr>
        <p:txBody>
          <a:bodyPr wrap="square" lIns="0" tIns="0" rIns="0" bIns="0" rtlCol="0" anchor="ctr"/>
          <a:lstStyle/>
          <a:p>
            <a:pPr marL="0" indent="0">
              <a:buNone/>
            </a:pPr>
            <a:r>
              <a:rPr lang="en-US" sz="950" dirty="0">
                <a:solidFill>
                  <a:srgbClr val="999999"/>
                </a:solidFill>
                <a:latin typeface="Calibri" pitchFamily="34" charset="0"/>
                <a:ea typeface="Calibri" pitchFamily="34" charset="-122"/>
                <a:cs typeface="Calibri" pitchFamily="34" charset="-120"/>
              </a:rPr>
              <a:t>Speech-to-Text</a:t>
            </a:r>
            <a:endParaRPr lang="en-US" sz="950" dirty="0"/>
          </a:p>
        </p:txBody>
      </p:sp>
      <p:sp>
        <p:nvSpPr>
          <p:cNvPr id="17" name="Shape 15"/>
          <p:cNvSpPr/>
          <p:nvPr/>
        </p:nvSpPr>
        <p:spPr>
          <a:xfrm>
            <a:off x="2834640" y="1975104"/>
            <a:ext cx="13716" cy="493776"/>
          </a:xfrm>
          <a:prstGeom prst="rect">
            <a:avLst/>
          </a:prstGeom>
          <a:solidFill>
            <a:srgbClr val="E8E8E8"/>
          </a:solidFill>
          <a:ln w="12700">
            <a:solidFill>
              <a:srgbClr val="E8E8E8"/>
            </a:solidFill>
            <a:prstDash val="solid"/>
          </a:ln>
        </p:spPr>
        <p:txBody>
          <a:bodyPr/>
          <a:lstStyle/>
          <a:p>
            <a:endParaRPr lang="en-US"/>
          </a:p>
        </p:txBody>
      </p:sp>
      <p:sp>
        <p:nvSpPr>
          <p:cNvPr id="18" name="Text 16"/>
          <p:cNvSpPr/>
          <p:nvPr/>
        </p:nvSpPr>
        <p:spPr>
          <a:xfrm>
            <a:off x="2980944" y="2011680"/>
            <a:ext cx="5120640" cy="420624"/>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Voice Input — transcribes patient speech in any language</a:t>
            </a:r>
            <a:endParaRPr lang="en-US" sz="1100" dirty="0"/>
          </a:p>
        </p:txBody>
      </p:sp>
      <p:sp>
        <p:nvSpPr>
          <p:cNvPr id="19" name="Text 17"/>
          <p:cNvSpPr/>
          <p:nvPr/>
        </p:nvSpPr>
        <p:spPr>
          <a:xfrm>
            <a:off x="8275320" y="2066544"/>
            <a:ext cx="731520" cy="256032"/>
          </a:xfrm>
          <a:prstGeom prst="rect">
            <a:avLst/>
          </a:prstGeom>
          <a:noFill/>
          <a:ln/>
        </p:spPr>
        <p:txBody>
          <a:bodyPr wrap="square" lIns="0" tIns="0" rIns="0" bIns="0" rtlCol="0" anchor="ctr"/>
          <a:lstStyle/>
          <a:p>
            <a:pPr marL="0" indent="0" algn="r">
              <a:buNone/>
            </a:pPr>
            <a:r>
              <a:rPr lang="en-US" sz="950" dirty="0">
                <a:solidFill>
                  <a:srgbClr val="999999"/>
                </a:solidFill>
                <a:latin typeface="Calibri" pitchFamily="34" charset="0"/>
                <a:ea typeface="Calibri" pitchFamily="34" charset="-122"/>
                <a:cs typeface="Calibri" pitchFamily="34" charset="-120"/>
              </a:rPr>
              <a:t>10 RPM</a:t>
            </a:r>
            <a:endParaRPr lang="en-US" sz="950" dirty="0"/>
          </a:p>
        </p:txBody>
      </p:sp>
      <p:sp>
        <p:nvSpPr>
          <p:cNvPr id="20" name="Shape 18"/>
          <p:cNvSpPr/>
          <p:nvPr/>
        </p:nvSpPr>
        <p:spPr>
          <a:xfrm>
            <a:off x="502920" y="2615184"/>
            <a:ext cx="8138160" cy="13716"/>
          </a:xfrm>
          <a:prstGeom prst="rect">
            <a:avLst/>
          </a:prstGeom>
          <a:solidFill>
            <a:srgbClr val="E8E8E8"/>
          </a:solidFill>
          <a:ln w="12700">
            <a:solidFill>
              <a:srgbClr val="E8E8E8"/>
            </a:solidFill>
            <a:prstDash val="solid"/>
          </a:ln>
        </p:spPr>
        <p:txBody>
          <a:bodyPr/>
          <a:lstStyle/>
          <a:p>
            <a:endParaRPr lang="en-US"/>
          </a:p>
        </p:txBody>
      </p:sp>
      <p:sp>
        <p:nvSpPr>
          <p:cNvPr id="21" name="Shape 19"/>
          <p:cNvSpPr/>
          <p:nvPr/>
        </p:nvSpPr>
        <p:spPr>
          <a:xfrm>
            <a:off x="502920" y="2889504"/>
            <a:ext cx="91440" cy="91440"/>
          </a:xfrm>
          <a:prstGeom prst="ellipse">
            <a:avLst/>
          </a:prstGeom>
          <a:solidFill>
            <a:srgbClr val="D97706"/>
          </a:solidFill>
          <a:ln w="12700">
            <a:solidFill>
              <a:srgbClr val="D97706"/>
            </a:solidFill>
            <a:prstDash val="solid"/>
          </a:ln>
        </p:spPr>
        <p:txBody>
          <a:bodyPr/>
          <a:lstStyle/>
          <a:p>
            <a:endParaRPr lang="en-US"/>
          </a:p>
        </p:txBody>
      </p:sp>
      <p:sp>
        <p:nvSpPr>
          <p:cNvPr id="22" name="Text 20"/>
          <p:cNvSpPr/>
          <p:nvPr/>
        </p:nvSpPr>
        <p:spPr>
          <a:xfrm>
            <a:off x="694944" y="2688336"/>
            <a:ext cx="2011680" cy="274320"/>
          </a:xfrm>
          <a:prstGeom prst="rect">
            <a:avLst/>
          </a:prstGeom>
          <a:noFill/>
          <a:ln/>
        </p:spPr>
        <p:txBody>
          <a:bodyPr wrap="square" lIns="0" tIns="0" rIns="0" bIns="0" rtlCol="0" anchor="ctr"/>
          <a:lstStyle/>
          <a:p>
            <a:pPr marL="0" indent="0">
              <a:buNone/>
            </a:pPr>
            <a:r>
              <a:rPr lang="en-US" sz="1300" b="1" dirty="0">
                <a:solidFill>
                  <a:srgbClr val="D97706"/>
                </a:solidFill>
                <a:latin typeface="Calibri" pitchFamily="34" charset="0"/>
                <a:ea typeface="Calibri" pitchFamily="34" charset="-122"/>
                <a:cs typeface="Calibri" pitchFamily="34" charset="-120"/>
              </a:rPr>
              <a:t>tts</a:t>
            </a:r>
            <a:endParaRPr lang="en-US" sz="1300" dirty="0"/>
          </a:p>
        </p:txBody>
      </p:sp>
      <p:sp>
        <p:nvSpPr>
          <p:cNvPr id="23" name="Text 21"/>
          <p:cNvSpPr/>
          <p:nvPr/>
        </p:nvSpPr>
        <p:spPr>
          <a:xfrm>
            <a:off x="694944" y="2999232"/>
            <a:ext cx="2011680" cy="219456"/>
          </a:xfrm>
          <a:prstGeom prst="rect">
            <a:avLst/>
          </a:prstGeom>
          <a:noFill/>
          <a:ln/>
        </p:spPr>
        <p:txBody>
          <a:bodyPr wrap="square" lIns="0" tIns="0" rIns="0" bIns="0" rtlCol="0" anchor="ctr"/>
          <a:lstStyle/>
          <a:p>
            <a:pPr marL="0" indent="0">
              <a:buNone/>
            </a:pPr>
            <a:r>
              <a:rPr lang="en-US" sz="950" dirty="0">
                <a:solidFill>
                  <a:srgbClr val="999999"/>
                </a:solidFill>
                <a:latin typeface="Calibri" pitchFamily="34" charset="0"/>
                <a:ea typeface="Calibri" pitchFamily="34" charset="-122"/>
                <a:cs typeface="Calibri" pitchFamily="34" charset="-120"/>
              </a:rPr>
              <a:t>Text-to-Speech</a:t>
            </a:r>
            <a:endParaRPr lang="en-US" sz="950" dirty="0"/>
          </a:p>
        </p:txBody>
      </p:sp>
      <p:sp>
        <p:nvSpPr>
          <p:cNvPr id="24" name="Shape 22"/>
          <p:cNvSpPr/>
          <p:nvPr/>
        </p:nvSpPr>
        <p:spPr>
          <a:xfrm>
            <a:off x="2834640" y="2724912"/>
            <a:ext cx="13716" cy="493776"/>
          </a:xfrm>
          <a:prstGeom prst="rect">
            <a:avLst/>
          </a:prstGeom>
          <a:solidFill>
            <a:srgbClr val="E8E8E8"/>
          </a:solidFill>
          <a:ln w="12700">
            <a:solidFill>
              <a:srgbClr val="E8E8E8"/>
            </a:solidFill>
            <a:prstDash val="solid"/>
          </a:ln>
        </p:spPr>
        <p:txBody>
          <a:bodyPr/>
          <a:lstStyle/>
          <a:p>
            <a:endParaRPr lang="en-US"/>
          </a:p>
        </p:txBody>
      </p:sp>
      <p:sp>
        <p:nvSpPr>
          <p:cNvPr id="25" name="Text 23"/>
          <p:cNvSpPr/>
          <p:nvPr/>
        </p:nvSpPr>
        <p:spPr>
          <a:xfrm>
            <a:off x="2980944" y="2761488"/>
            <a:ext cx="5120640" cy="420624"/>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Voice Output — reads diagnosis aloud, voice matched to urgency</a:t>
            </a:r>
            <a:endParaRPr lang="en-US" sz="1100" dirty="0"/>
          </a:p>
        </p:txBody>
      </p:sp>
      <p:sp>
        <p:nvSpPr>
          <p:cNvPr id="26" name="Text 24"/>
          <p:cNvSpPr/>
          <p:nvPr/>
        </p:nvSpPr>
        <p:spPr>
          <a:xfrm>
            <a:off x="8275320" y="2816352"/>
            <a:ext cx="731520" cy="256032"/>
          </a:xfrm>
          <a:prstGeom prst="rect">
            <a:avLst/>
          </a:prstGeom>
          <a:noFill/>
          <a:ln/>
        </p:spPr>
        <p:txBody>
          <a:bodyPr wrap="square" lIns="0" tIns="0" rIns="0" bIns="0" rtlCol="0" anchor="ctr"/>
          <a:lstStyle/>
          <a:p>
            <a:pPr marL="0" indent="0" algn="r">
              <a:buNone/>
            </a:pPr>
            <a:r>
              <a:rPr lang="en-US" sz="950" dirty="0">
                <a:solidFill>
                  <a:srgbClr val="999999"/>
                </a:solidFill>
                <a:latin typeface="Calibri" pitchFamily="34" charset="0"/>
                <a:ea typeface="Calibri" pitchFamily="34" charset="-122"/>
                <a:cs typeface="Calibri" pitchFamily="34" charset="-120"/>
              </a:rPr>
              <a:t>10 RPM</a:t>
            </a:r>
            <a:endParaRPr lang="en-US" sz="950" dirty="0"/>
          </a:p>
        </p:txBody>
      </p:sp>
      <p:sp>
        <p:nvSpPr>
          <p:cNvPr id="27" name="Shape 25"/>
          <p:cNvSpPr/>
          <p:nvPr/>
        </p:nvSpPr>
        <p:spPr>
          <a:xfrm>
            <a:off x="502920" y="3364992"/>
            <a:ext cx="8138160" cy="13716"/>
          </a:xfrm>
          <a:prstGeom prst="rect">
            <a:avLst/>
          </a:prstGeom>
          <a:solidFill>
            <a:srgbClr val="E8E8E8"/>
          </a:solidFill>
          <a:ln w="12700">
            <a:solidFill>
              <a:srgbClr val="E8E8E8"/>
            </a:solidFill>
            <a:prstDash val="solid"/>
          </a:ln>
        </p:spPr>
        <p:txBody>
          <a:bodyPr/>
          <a:lstStyle/>
          <a:p>
            <a:endParaRPr lang="en-US"/>
          </a:p>
        </p:txBody>
      </p:sp>
      <p:sp>
        <p:nvSpPr>
          <p:cNvPr id="28" name="Shape 26"/>
          <p:cNvSpPr/>
          <p:nvPr/>
        </p:nvSpPr>
        <p:spPr>
          <a:xfrm>
            <a:off x="502920" y="3639312"/>
            <a:ext cx="91440" cy="91440"/>
          </a:xfrm>
          <a:prstGeom prst="ellipse">
            <a:avLst/>
          </a:prstGeom>
          <a:solidFill>
            <a:srgbClr val="7C3AED"/>
          </a:solidFill>
          <a:ln w="12700">
            <a:solidFill>
              <a:srgbClr val="7C3AED"/>
            </a:solidFill>
            <a:prstDash val="solid"/>
          </a:ln>
        </p:spPr>
        <p:txBody>
          <a:bodyPr/>
          <a:lstStyle/>
          <a:p>
            <a:endParaRPr lang="en-US"/>
          </a:p>
        </p:txBody>
      </p:sp>
      <p:sp>
        <p:nvSpPr>
          <p:cNvPr id="29" name="Text 27"/>
          <p:cNvSpPr/>
          <p:nvPr/>
        </p:nvSpPr>
        <p:spPr>
          <a:xfrm>
            <a:off x="694944" y="3438144"/>
            <a:ext cx="2011680" cy="274320"/>
          </a:xfrm>
          <a:prstGeom prst="rect">
            <a:avLst/>
          </a:prstGeom>
          <a:noFill/>
          <a:ln/>
        </p:spPr>
        <p:txBody>
          <a:bodyPr wrap="square" lIns="0" tIns="0" rIns="0" bIns="0"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gpt-image-1.5</a:t>
            </a:r>
            <a:endParaRPr lang="en-US" sz="1300" dirty="0"/>
          </a:p>
        </p:txBody>
      </p:sp>
      <p:sp>
        <p:nvSpPr>
          <p:cNvPr id="30" name="Text 28"/>
          <p:cNvSpPr/>
          <p:nvPr/>
        </p:nvSpPr>
        <p:spPr>
          <a:xfrm>
            <a:off x="694944" y="3749040"/>
            <a:ext cx="2011680" cy="219456"/>
          </a:xfrm>
          <a:prstGeom prst="rect">
            <a:avLst/>
          </a:prstGeom>
          <a:noFill/>
          <a:ln/>
        </p:spPr>
        <p:txBody>
          <a:bodyPr wrap="square" lIns="0" tIns="0" rIns="0" bIns="0" rtlCol="0" anchor="ctr"/>
          <a:lstStyle/>
          <a:p>
            <a:pPr marL="0" indent="0">
              <a:buNone/>
            </a:pPr>
            <a:r>
              <a:rPr lang="en-US" sz="950" dirty="0">
                <a:solidFill>
                  <a:srgbClr val="999999"/>
                </a:solidFill>
                <a:latin typeface="Calibri" pitchFamily="34" charset="0"/>
                <a:ea typeface="Calibri" pitchFamily="34" charset="-122"/>
                <a:cs typeface="Calibri" pitchFamily="34" charset="-120"/>
              </a:rPr>
              <a:t>Image Generation &amp; Vision</a:t>
            </a:r>
            <a:endParaRPr lang="en-US" sz="950" dirty="0"/>
          </a:p>
        </p:txBody>
      </p:sp>
      <p:sp>
        <p:nvSpPr>
          <p:cNvPr id="31" name="Shape 29"/>
          <p:cNvSpPr/>
          <p:nvPr/>
        </p:nvSpPr>
        <p:spPr>
          <a:xfrm>
            <a:off x="2834640" y="3474720"/>
            <a:ext cx="13716" cy="493776"/>
          </a:xfrm>
          <a:prstGeom prst="rect">
            <a:avLst/>
          </a:prstGeom>
          <a:solidFill>
            <a:srgbClr val="E8E8E8"/>
          </a:solidFill>
          <a:ln w="12700">
            <a:solidFill>
              <a:srgbClr val="E8E8E8"/>
            </a:solidFill>
            <a:prstDash val="solid"/>
          </a:ln>
        </p:spPr>
        <p:txBody>
          <a:bodyPr/>
          <a:lstStyle/>
          <a:p>
            <a:endParaRPr lang="en-US"/>
          </a:p>
        </p:txBody>
      </p:sp>
      <p:sp>
        <p:nvSpPr>
          <p:cNvPr id="32" name="Text 30"/>
          <p:cNvSpPr/>
          <p:nvPr/>
        </p:nvSpPr>
        <p:spPr>
          <a:xfrm>
            <a:off x="2980944" y="3511296"/>
            <a:ext cx="5120640" cy="420624"/>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Report Scan  ·  Medicine Detection  ·  Health Infographics</a:t>
            </a:r>
            <a:endParaRPr lang="en-US" sz="1100" dirty="0"/>
          </a:p>
        </p:txBody>
      </p:sp>
      <p:sp>
        <p:nvSpPr>
          <p:cNvPr id="33" name="Text 31"/>
          <p:cNvSpPr/>
          <p:nvPr/>
        </p:nvSpPr>
        <p:spPr>
          <a:xfrm>
            <a:off x="8275320" y="3566160"/>
            <a:ext cx="731520" cy="256032"/>
          </a:xfrm>
          <a:prstGeom prst="rect">
            <a:avLst/>
          </a:prstGeom>
          <a:noFill/>
          <a:ln/>
        </p:spPr>
        <p:txBody>
          <a:bodyPr wrap="square" lIns="0" tIns="0" rIns="0" bIns="0" rtlCol="0" anchor="ctr"/>
          <a:lstStyle/>
          <a:p>
            <a:pPr marL="0" indent="0" algn="r">
              <a:buNone/>
            </a:pPr>
            <a:r>
              <a:rPr lang="en-US" sz="950" b="1" dirty="0">
                <a:solidFill>
                  <a:srgbClr val="DC2626"/>
                </a:solidFill>
                <a:latin typeface="Calibri" pitchFamily="34" charset="0"/>
                <a:ea typeface="Calibri" pitchFamily="34" charset="-122"/>
                <a:cs typeface="Calibri" pitchFamily="34" charset="-120"/>
              </a:rPr>
              <a:t>3 RPM</a:t>
            </a:r>
            <a:endParaRPr lang="en-US" sz="950" dirty="0"/>
          </a:p>
        </p:txBody>
      </p:sp>
      <p:sp>
        <p:nvSpPr>
          <p:cNvPr id="34" name="Shape 32"/>
          <p:cNvSpPr/>
          <p:nvPr/>
        </p:nvSpPr>
        <p:spPr>
          <a:xfrm>
            <a:off x="502920" y="4114800"/>
            <a:ext cx="8138160" cy="13716"/>
          </a:xfrm>
          <a:prstGeom prst="rect">
            <a:avLst/>
          </a:prstGeom>
          <a:solidFill>
            <a:srgbClr val="E8E8E8"/>
          </a:solidFill>
          <a:ln w="12700">
            <a:solidFill>
              <a:srgbClr val="E8E8E8"/>
            </a:solidFill>
            <a:prstDash val="solid"/>
          </a:ln>
        </p:spPr>
        <p:txBody>
          <a:bodyPr/>
          <a:lstStyle/>
          <a:p>
            <a:endParaRPr lang="en-US"/>
          </a:p>
        </p:txBody>
      </p:sp>
      <p:sp>
        <p:nvSpPr>
          <p:cNvPr id="35" name="Shape 33"/>
          <p:cNvSpPr/>
          <p:nvPr/>
        </p:nvSpPr>
        <p:spPr>
          <a:xfrm>
            <a:off x="502920" y="4389120"/>
            <a:ext cx="91440" cy="91440"/>
          </a:xfrm>
          <a:prstGeom prst="ellipse">
            <a:avLst/>
          </a:prstGeom>
          <a:solidFill>
            <a:srgbClr val="DC2626"/>
          </a:solidFill>
          <a:ln w="12700">
            <a:solidFill>
              <a:srgbClr val="DC2626"/>
            </a:solidFill>
            <a:prstDash val="solid"/>
          </a:ln>
        </p:spPr>
        <p:txBody>
          <a:bodyPr/>
          <a:lstStyle/>
          <a:p>
            <a:endParaRPr lang="en-US"/>
          </a:p>
        </p:txBody>
      </p:sp>
      <p:sp>
        <p:nvSpPr>
          <p:cNvPr id="36" name="Text 34"/>
          <p:cNvSpPr/>
          <p:nvPr/>
        </p:nvSpPr>
        <p:spPr>
          <a:xfrm>
            <a:off x="694944" y="4187952"/>
            <a:ext cx="2011680" cy="274320"/>
          </a:xfrm>
          <a:prstGeom prst="rect">
            <a:avLst/>
          </a:prstGeom>
          <a:noFill/>
          <a:ln/>
        </p:spPr>
        <p:txBody>
          <a:bodyPr wrap="square" lIns="0" tIns="0" rIns="0" bIns="0" rtlCol="0" anchor="ctr"/>
          <a:lstStyle/>
          <a:p>
            <a:pPr marL="0" indent="0">
              <a:buNone/>
            </a:pPr>
            <a:r>
              <a:rPr lang="en-US" sz="1300" b="1" dirty="0">
                <a:solidFill>
                  <a:srgbClr val="DC2626"/>
                </a:solidFill>
                <a:latin typeface="Calibri" pitchFamily="34" charset="0"/>
                <a:ea typeface="Calibri" pitchFamily="34" charset="-122"/>
                <a:cs typeface="Calibri" pitchFamily="34" charset="-120"/>
              </a:rPr>
              <a:t>gpt-realtime-1.5</a:t>
            </a:r>
            <a:endParaRPr lang="en-US" sz="1300" dirty="0"/>
          </a:p>
        </p:txBody>
      </p:sp>
      <p:sp>
        <p:nvSpPr>
          <p:cNvPr id="37" name="Text 35"/>
          <p:cNvSpPr/>
          <p:nvPr/>
        </p:nvSpPr>
        <p:spPr>
          <a:xfrm>
            <a:off x="694944" y="4498848"/>
            <a:ext cx="2011680" cy="219456"/>
          </a:xfrm>
          <a:prstGeom prst="rect">
            <a:avLst/>
          </a:prstGeom>
          <a:noFill/>
          <a:ln/>
        </p:spPr>
        <p:txBody>
          <a:bodyPr wrap="square" lIns="0" tIns="0" rIns="0" bIns="0" rtlCol="0" anchor="ctr"/>
          <a:lstStyle/>
          <a:p>
            <a:pPr marL="0" indent="0">
              <a:buNone/>
            </a:pPr>
            <a:r>
              <a:rPr lang="en-US" sz="950" dirty="0">
                <a:solidFill>
                  <a:srgbClr val="999999"/>
                </a:solidFill>
                <a:latin typeface="Calibri" pitchFamily="34" charset="0"/>
                <a:ea typeface="Calibri" pitchFamily="34" charset="-122"/>
                <a:cs typeface="Calibri" pitchFamily="34" charset="-120"/>
              </a:rPr>
              <a:t>Live Voice  (WebSocket)</a:t>
            </a:r>
            <a:endParaRPr lang="en-US" sz="950" dirty="0"/>
          </a:p>
        </p:txBody>
      </p:sp>
      <p:sp>
        <p:nvSpPr>
          <p:cNvPr id="38" name="Shape 36"/>
          <p:cNvSpPr/>
          <p:nvPr/>
        </p:nvSpPr>
        <p:spPr>
          <a:xfrm>
            <a:off x="2834640" y="4224528"/>
            <a:ext cx="13716" cy="493776"/>
          </a:xfrm>
          <a:prstGeom prst="rect">
            <a:avLst/>
          </a:prstGeom>
          <a:solidFill>
            <a:srgbClr val="E8E8E8"/>
          </a:solidFill>
          <a:ln w="12700">
            <a:solidFill>
              <a:srgbClr val="E8E8E8"/>
            </a:solidFill>
            <a:prstDash val="solid"/>
          </a:ln>
        </p:spPr>
        <p:txBody>
          <a:bodyPr/>
          <a:lstStyle/>
          <a:p>
            <a:endParaRPr lang="en-US"/>
          </a:p>
        </p:txBody>
      </p:sp>
      <p:sp>
        <p:nvSpPr>
          <p:cNvPr id="39" name="Text 37"/>
          <p:cNvSpPr/>
          <p:nvPr/>
        </p:nvSpPr>
        <p:spPr>
          <a:xfrm>
            <a:off x="2980944" y="4261104"/>
            <a:ext cx="5120640" cy="420624"/>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Live consultation — real-time bidirectional voice session</a:t>
            </a:r>
            <a:endParaRPr lang="en-US" sz="1100" dirty="0"/>
          </a:p>
        </p:txBody>
      </p:sp>
      <p:sp>
        <p:nvSpPr>
          <p:cNvPr id="40" name="Text 38"/>
          <p:cNvSpPr/>
          <p:nvPr/>
        </p:nvSpPr>
        <p:spPr>
          <a:xfrm>
            <a:off x="8275320" y="4315968"/>
            <a:ext cx="731520" cy="256032"/>
          </a:xfrm>
          <a:prstGeom prst="rect">
            <a:avLst/>
          </a:prstGeom>
          <a:noFill/>
          <a:ln/>
        </p:spPr>
        <p:txBody>
          <a:bodyPr wrap="square" lIns="0" tIns="0" rIns="0" bIns="0" rtlCol="0" anchor="ctr"/>
          <a:lstStyle/>
          <a:p>
            <a:pPr marL="0" indent="0" algn="r">
              <a:buNone/>
            </a:pPr>
            <a:r>
              <a:rPr lang="en-US" sz="950" dirty="0">
                <a:solidFill>
                  <a:srgbClr val="999999"/>
                </a:solidFill>
                <a:latin typeface="Calibri" pitchFamily="34" charset="0"/>
                <a:ea typeface="Calibri" pitchFamily="34" charset="-122"/>
                <a:cs typeface="Calibri" pitchFamily="34" charset="-120"/>
              </a:rPr>
              <a:t>10 RPM</a:t>
            </a:r>
            <a:endParaRPr lang="en-US" sz="950" dirty="0"/>
          </a:p>
        </p:txBody>
      </p:sp>
      <p:sp>
        <p:nvSpPr>
          <p:cNvPr id="41" name="Shape 39"/>
          <p:cNvSpPr/>
          <p:nvPr/>
        </p:nvSpPr>
        <p:spPr>
          <a:xfrm>
            <a:off x="502920" y="4864608"/>
            <a:ext cx="8138160" cy="13716"/>
          </a:xfrm>
          <a:prstGeom prst="rect">
            <a:avLst/>
          </a:prstGeom>
          <a:solidFill>
            <a:srgbClr val="E8E8E8"/>
          </a:solidFill>
          <a:ln w="12700">
            <a:solidFill>
              <a:srgbClr val="E8E8E8"/>
            </a:solidFill>
            <a:prstDash val="solid"/>
          </a:ln>
        </p:spPr>
        <p:txBody>
          <a:bodyPr/>
          <a:lstStyle/>
          <a:p>
            <a:endParaRPr lang="en-US"/>
          </a:p>
        </p:txBody>
      </p:sp>
      <p:sp>
        <p:nvSpPr>
          <p:cNvPr id="42" name="Text 40"/>
          <p:cNvSpPr/>
          <p:nvPr/>
        </p:nvSpPr>
        <p:spPr>
          <a:xfrm>
            <a:off x="0" y="4869180"/>
            <a:ext cx="9144000" cy="256032"/>
          </a:xfrm>
          <a:prstGeom prst="rect">
            <a:avLst/>
          </a:prstGeom>
          <a:noFill/>
          <a:ln/>
        </p:spPr>
        <p:txBody>
          <a:bodyPr wrap="square" rtlCol="0" anchor="ctr"/>
          <a:lstStyle/>
          <a:p>
            <a:pPr marL="0" indent="0" algn="r">
              <a:buNone/>
            </a:pPr>
            <a:r>
              <a:rPr lang="en-US" sz="850" dirty="0">
                <a:solidFill>
                  <a:srgbClr val="E8E8E8"/>
                </a:solidFill>
                <a:latin typeface="Calibri" pitchFamily="34" charset="0"/>
                <a:ea typeface="Calibri" pitchFamily="34" charset="-122"/>
                <a:cs typeface="Calibri" pitchFamily="34" charset="-120"/>
              </a:rPr>
              <a:t>06 / 08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02920" y="201168"/>
            <a:ext cx="7315200" cy="201168"/>
          </a:xfrm>
          <a:prstGeom prst="rect">
            <a:avLst/>
          </a:prstGeom>
          <a:noFill/>
          <a:ln/>
        </p:spPr>
        <p:txBody>
          <a:bodyPr wrap="square" lIns="0" tIns="0" rIns="0" bIns="0" rtlCol="0" anchor="ctr"/>
          <a:lstStyle/>
          <a:p>
            <a:pPr marL="0" indent="0">
              <a:buNone/>
            </a:pPr>
            <a:r>
              <a:rPr lang="en-US" sz="1200" b="1" kern="0" spc="300" dirty="0">
                <a:latin typeface="Cambria" panose="02040503050406030204" pitchFamily="18" charset="0"/>
                <a:ea typeface="Cambria" panose="02040503050406030204" pitchFamily="18" charset="0"/>
                <a:cs typeface="Calibri" pitchFamily="34" charset="-120"/>
              </a:rPr>
              <a:t>IMPACT &amp; SUSTAINABILITY</a:t>
            </a:r>
            <a:endParaRPr lang="en-US" sz="1200" dirty="0">
              <a:latin typeface="Cambria" panose="02040503050406030204" pitchFamily="18" charset="0"/>
              <a:ea typeface="Cambria" panose="02040503050406030204" pitchFamily="18" charset="0"/>
            </a:endParaRPr>
          </a:p>
        </p:txBody>
      </p:sp>
      <p:sp>
        <p:nvSpPr>
          <p:cNvPr id="4" name="Text 2"/>
          <p:cNvSpPr/>
          <p:nvPr/>
        </p:nvSpPr>
        <p:spPr>
          <a:xfrm>
            <a:off x="502920" y="420624"/>
            <a:ext cx="8229600" cy="530352"/>
          </a:xfrm>
          <a:prstGeom prst="rect">
            <a:avLst/>
          </a:prstGeom>
          <a:noFill/>
          <a:ln/>
        </p:spPr>
        <p:txBody>
          <a:bodyPr wrap="square" lIns="0" tIns="0" rIns="0" bIns="0" rtlCol="0" anchor="ctr"/>
          <a:lstStyle/>
          <a:p>
            <a:pPr marL="0" indent="0">
              <a:buNone/>
            </a:pPr>
            <a:r>
              <a:rPr lang="en-US" sz="2600" b="1" dirty="0">
                <a:solidFill>
                  <a:srgbClr val="111111"/>
                </a:solidFill>
                <a:latin typeface="Calibri" pitchFamily="34" charset="0"/>
                <a:ea typeface="Calibri" pitchFamily="34" charset="-122"/>
                <a:cs typeface="Calibri" pitchFamily="34" charset="-120"/>
              </a:rPr>
              <a:t>What we change — and how we sustain it</a:t>
            </a:r>
            <a:endParaRPr lang="en-US" sz="2600" dirty="0"/>
          </a:p>
        </p:txBody>
      </p:sp>
      <p:sp>
        <p:nvSpPr>
          <p:cNvPr id="5" name="Shape 3"/>
          <p:cNvSpPr/>
          <p:nvPr/>
        </p:nvSpPr>
        <p:spPr>
          <a:xfrm>
            <a:off x="502920" y="1024128"/>
            <a:ext cx="8138160" cy="13716"/>
          </a:xfrm>
          <a:prstGeom prst="rect">
            <a:avLst/>
          </a:prstGeom>
          <a:solidFill>
            <a:srgbClr val="E8E8E8"/>
          </a:solidFill>
          <a:ln w="12700">
            <a:solidFill>
              <a:srgbClr val="E8E8E8"/>
            </a:solidFill>
            <a:prstDash val="solid"/>
          </a:ln>
        </p:spPr>
        <p:txBody>
          <a:bodyPr/>
          <a:lstStyle/>
          <a:p>
            <a:endParaRPr lang="en-US"/>
          </a:p>
        </p:txBody>
      </p:sp>
      <p:sp>
        <p:nvSpPr>
          <p:cNvPr id="6" name="Shape 4"/>
          <p:cNvSpPr/>
          <p:nvPr/>
        </p:nvSpPr>
        <p:spPr>
          <a:xfrm>
            <a:off x="502920" y="1188720"/>
            <a:ext cx="82296" cy="82296"/>
          </a:xfrm>
          <a:prstGeom prst="ellipse">
            <a:avLst/>
          </a:prstGeom>
          <a:solidFill>
            <a:srgbClr val="2563EB"/>
          </a:solidFill>
          <a:ln w="12700">
            <a:solidFill>
              <a:srgbClr val="2563EB"/>
            </a:solidFill>
            <a:prstDash val="solid"/>
          </a:ln>
        </p:spPr>
        <p:txBody>
          <a:bodyPr/>
          <a:lstStyle/>
          <a:p>
            <a:endParaRPr lang="en-US"/>
          </a:p>
        </p:txBody>
      </p:sp>
      <p:sp>
        <p:nvSpPr>
          <p:cNvPr id="7" name="Text 5"/>
          <p:cNvSpPr/>
          <p:nvPr/>
        </p:nvSpPr>
        <p:spPr>
          <a:xfrm>
            <a:off x="685800" y="1115568"/>
            <a:ext cx="4023360" cy="256032"/>
          </a:xfrm>
          <a:prstGeom prst="rect">
            <a:avLst/>
          </a:prstGeom>
          <a:noFill/>
          <a:ln/>
        </p:spPr>
        <p:txBody>
          <a:bodyPr wrap="square" lIns="0" tIns="0" rIns="0" bIns="0" rtlCol="0" anchor="ctr"/>
          <a:lstStyle/>
          <a:p>
            <a:pPr marL="0" indent="0">
              <a:buNone/>
            </a:pPr>
            <a:r>
              <a:rPr lang="en-US" sz="900" b="1" kern="0" spc="100" dirty="0">
                <a:solidFill>
                  <a:srgbClr val="2563EB"/>
                </a:solidFill>
                <a:latin typeface="Calibri" pitchFamily="34" charset="0"/>
                <a:ea typeface="Calibri" pitchFamily="34" charset="-122"/>
                <a:cs typeface="Calibri" pitchFamily="34" charset="-120"/>
              </a:rPr>
              <a:t>Immediate impact</a:t>
            </a:r>
            <a:endParaRPr lang="en-US" sz="900" dirty="0"/>
          </a:p>
        </p:txBody>
      </p:sp>
      <p:sp>
        <p:nvSpPr>
          <p:cNvPr id="8" name="Shape 6"/>
          <p:cNvSpPr/>
          <p:nvPr/>
        </p:nvSpPr>
        <p:spPr>
          <a:xfrm>
            <a:off x="502920" y="1408176"/>
            <a:ext cx="3977640" cy="13716"/>
          </a:xfrm>
          <a:prstGeom prst="rect">
            <a:avLst/>
          </a:prstGeom>
          <a:solidFill>
            <a:srgbClr val="E8E8E8"/>
          </a:solidFill>
          <a:ln w="12700">
            <a:solidFill>
              <a:srgbClr val="E8E8E8"/>
            </a:solidFill>
            <a:prstDash val="solid"/>
          </a:ln>
        </p:spPr>
        <p:txBody>
          <a:bodyPr/>
          <a:lstStyle/>
          <a:p>
            <a:endParaRPr lang="en-US"/>
          </a:p>
        </p:txBody>
      </p:sp>
      <p:sp>
        <p:nvSpPr>
          <p:cNvPr id="9" name="Text 7"/>
          <p:cNvSpPr/>
          <p:nvPr/>
        </p:nvSpPr>
        <p:spPr>
          <a:xfrm>
            <a:off x="521208" y="1507236"/>
            <a:ext cx="4114800" cy="310896"/>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  Faster triage for 56% who delay care</a:t>
            </a:r>
            <a:endParaRPr lang="en-US" sz="1100" dirty="0"/>
          </a:p>
        </p:txBody>
      </p:sp>
      <p:sp>
        <p:nvSpPr>
          <p:cNvPr id="10" name="Text 8"/>
          <p:cNvSpPr/>
          <p:nvPr/>
        </p:nvSpPr>
        <p:spPr>
          <a:xfrm>
            <a:off x="521208" y="1847088"/>
            <a:ext cx="4114800" cy="310896"/>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  Fewer missed emergency cases</a:t>
            </a:r>
            <a:endParaRPr lang="en-US" sz="1100" dirty="0"/>
          </a:p>
        </p:txBody>
      </p:sp>
      <p:sp>
        <p:nvSpPr>
          <p:cNvPr id="11" name="Text 9"/>
          <p:cNvSpPr/>
          <p:nvPr/>
        </p:nvSpPr>
        <p:spPr>
          <a:xfrm>
            <a:off x="521208" y="2194560"/>
            <a:ext cx="4114800" cy="310896"/>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  Safer medicine use via interaction checks</a:t>
            </a:r>
            <a:endParaRPr lang="en-US" sz="1100" dirty="0"/>
          </a:p>
        </p:txBody>
      </p:sp>
      <p:sp>
        <p:nvSpPr>
          <p:cNvPr id="12" name="Text 10"/>
          <p:cNvSpPr/>
          <p:nvPr/>
        </p:nvSpPr>
        <p:spPr>
          <a:xfrm>
            <a:off x="521208" y="2542032"/>
            <a:ext cx="4114800" cy="310896"/>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  Life-saving SOS for isolated patients</a:t>
            </a:r>
            <a:endParaRPr lang="en-US" sz="1100" dirty="0"/>
          </a:p>
        </p:txBody>
      </p:sp>
      <p:sp>
        <p:nvSpPr>
          <p:cNvPr id="13" name="Shape 11"/>
          <p:cNvSpPr/>
          <p:nvPr/>
        </p:nvSpPr>
        <p:spPr>
          <a:xfrm>
            <a:off x="4846320" y="1188720"/>
            <a:ext cx="82296" cy="82296"/>
          </a:xfrm>
          <a:prstGeom prst="ellipse">
            <a:avLst/>
          </a:prstGeom>
          <a:solidFill>
            <a:srgbClr val="0D9488"/>
          </a:solidFill>
          <a:ln w="12700">
            <a:solidFill>
              <a:srgbClr val="0D9488"/>
            </a:solidFill>
            <a:prstDash val="solid"/>
          </a:ln>
        </p:spPr>
        <p:txBody>
          <a:bodyPr/>
          <a:lstStyle/>
          <a:p>
            <a:endParaRPr lang="en-US"/>
          </a:p>
        </p:txBody>
      </p:sp>
      <p:sp>
        <p:nvSpPr>
          <p:cNvPr id="14" name="Text 12"/>
          <p:cNvSpPr/>
          <p:nvPr/>
        </p:nvSpPr>
        <p:spPr>
          <a:xfrm>
            <a:off x="5029200" y="1115568"/>
            <a:ext cx="4023360" cy="256032"/>
          </a:xfrm>
          <a:prstGeom prst="rect">
            <a:avLst/>
          </a:prstGeom>
          <a:noFill/>
          <a:ln/>
        </p:spPr>
        <p:txBody>
          <a:bodyPr wrap="square" lIns="0" tIns="0" rIns="0" bIns="0" rtlCol="0" anchor="ctr"/>
          <a:lstStyle/>
          <a:p>
            <a:pPr marL="0" indent="0">
              <a:buNone/>
            </a:pPr>
            <a:r>
              <a:rPr lang="en-US" sz="900" b="1" kern="0" spc="100" dirty="0">
                <a:solidFill>
                  <a:srgbClr val="0D9488"/>
                </a:solidFill>
                <a:latin typeface="Calibri" pitchFamily="34" charset="0"/>
                <a:ea typeface="Calibri" pitchFamily="34" charset="-122"/>
                <a:cs typeface="Calibri" pitchFamily="34" charset="-120"/>
              </a:rPr>
              <a:t>Sustainability model</a:t>
            </a:r>
            <a:endParaRPr lang="en-US" sz="900" dirty="0"/>
          </a:p>
        </p:txBody>
      </p:sp>
      <p:sp>
        <p:nvSpPr>
          <p:cNvPr id="15" name="Shape 13"/>
          <p:cNvSpPr/>
          <p:nvPr/>
        </p:nvSpPr>
        <p:spPr>
          <a:xfrm>
            <a:off x="4846320" y="1408176"/>
            <a:ext cx="3977640" cy="13716"/>
          </a:xfrm>
          <a:prstGeom prst="rect">
            <a:avLst/>
          </a:prstGeom>
          <a:solidFill>
            <a:srgbClr val="E8E8E8"/>
          </a:solidFill>
          <a:ln w="12700">
            <a:solidFill>
              <a:srgbClr val="E8E8E8"/>
            </a:solidFill>
            <a:prstDash val="solid"/>
          </a:ln>
        </p:spPr>
        <p:txBody>
          <a:bodyPr/>
          <a:lstStyle/>
          <a:p>
            <a:endParaRPr lang="en-US"/>
          </a:p>
        </p:txBody>
      </p:sp>
      <p:sp>
        <p:nvSpPr>
          <p:cNvPr id="16" name="Text 14"/>
          <p:cNvSpPr/>
          <p:nvPr/>
        </p:nvSpPr>
        <p:spPr>
          <a:xfrm>
            <a:off x="4864608" y="1499616"/>
            <a:ext cx="4114800" cy="310896"/>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  Freemium — basic triage always free</a:t>
            </a:r>
            <a:endParaRPr lang="en-US" sz="1100" dirty="0"/>
          </a:p>
        </p:txBody>
      </p:sp>
      <p:sp>
        <p:nvSpPr>
          <p:cNvPr id="17" name="Text 15"/>
          <p:cNvSpPr/>
          <p:nvPr/>
        </p:nvSpPr>
        <p:spPr>
          <a:xfrm>
            <a:off x="4864608" y="1847088"/>
            <a:ext cx="4114800" cy="310896"/>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  NGO and health ministry partnerships</a:t>
            </a:r>
            <a:endParaRPr lang="en-US" sz="1100" dirty="0"/>
          </a:p>
        </p:txBody>
      </p:sp>
      <p:sp>
        <p:nvSpPr>
          <p:cNvPr id="18" name="Text 16"/>
          <p:cNvSpPr/>
          <p:nvPr/>
        </p:nvSpPr>
        <p:spPr>
          <a:xfrm>
            <a:off x="4864608" y="2194560"/>
            <a:ext cx="4114800" cy="310896"/>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  Community health worker (FCHV) tier</a:t>
            </a:r>
            <a:endParaRPr lang="en-US" sz="1100" dirty="0"/>
          </a:p>
        </p:txBody>
      </p:sp>
      <p:sp>
        <p:nvSpPr>
          <p:cNvPr id="20" name="Shape 18"/>
          <p:cNvSpPr/>
          <p:nvPr/>
        </p:nvSpPr>
        <p:spPr>
          <a:xfrm>
            <a:off x="502920" y="3090672"/>
            <a:ext cx="82296" cy="82296"/>
          </a:xfrm>
          <a:prstGeom prst="ellipse">
            <a:avLst/>
          </a:prstGeom>
          <a:solidFill>
            <a:srgbClr val="7C3AED"/>
          </a:solidFill>
          <a:ln w="12700">
            <a:solidFill>
              <a:srgbClr val="7C3AED"/>
            </a:solidFill>
            <a:prstDash val="solid"/>
          </a:ln>
        </p:spPr>
        <p:txBody>
          <a:bodyPr/>
          <a:lstStyle/>
          <a:p>
            <a:endParaRPr lang="en-US"/>
          </a:p>
        </p:txBody>
      </p:sp>
      <p:sp>
        <p:nvSpPr>
          <p:cNvPr id="21" name="Text 19"/>
          <p:cNvSpPr/>
          <p:nvPr/>
        </p:nvSpPr>
        <p:spPr>
          <a:xfrm>
            <a:off x="685800" y="3017520"/>
            <a:ext cx="4023360" cy="256032"/>
          </a:xfrm>
          <a:prstGeom prst="rect">
            <a:avLst/>
          </a:prstGeom>
          <a:noFill/>
          <a:ln/>
        </p:spPr>
        <p:txBody>
          <a:bodyPr wrap="square" lIns="0" tIns="0" rIns="0" bIns="0" rtlCol="0" anchor="ctr"/>
          <a:lstStyle/>
          <a:p>
            <a:pPr marL="0" indent="0">
              <a:buNone/>
            </a:pPr>
            <a:r>
              <a:rPr lang="en-US" sz="900" b="1" kern="0" spc="100" dirty="0">
                <a:solidFill>
                  <a:srgbClr val="7C3AED"/>
                </a:solidFill>
                <a:latin typeface="Calibri" pitchFamily="34" charset="0"/>
                <a:ea typeface="Calibri" pitchFamily="34" charset="-122"/>
                <a:cs typeface="Calibri" pitchFamily="34" charset="-120"/>
              </a:rPr>
              <a:t>Future roadmap</a:t>
            </a:r>
            <a:endParaRPr lang="en-US" sz="900" dirty="0"/>
          </a:p>
        </p:txBody>
      </p:sp>
      <p:sp>
        <p:nvSpPr>
          <p:cNvPr id="22" name="Shape 20"/>
          <p:cNvSpPr/>
          <p:nvPr/>
        </p:nvSpPr>
        <p:spPr>
          <a:xfrm>
            <a:off x="502920" y="3310128"/>
            <a:ext cx="3977640" cy="13716"/>
          </a:xfrm>
          <a:prstGeom prst="rect">
            <a:avLst/>
          </a:prstGeom>
          <a:solidFill>
            <a:srgbClr val="E8E8E8"/>
          </a:solidFill>
          <a:ln w="12700">
            <a:solidFill>
              <a:srgbClr val="E8E8E8"/>
            </a:solidFill>
            <a:prstDash val="solid"/>
          </a:ln>
        </p:spPr>
        <p:txBody>
          <a:bodyPr/>
          <a:lstStyle/>
          <a:p>
            <a:endParaRPr lang="en-US"/>
          </a:p>
        </p:txBody>
      </p:sp>
      <p:sp>
        <p:nvSpPr>
          <p:cNvPr id="23" name="Text 21"/>
          <p:cNvSpPr/>
          <p:nvPr/>
        </p:nvSpPr>
        <p:spPr>
          <a:xfrm>
            <a:off x="521208" y="3401568"/>
            <a:ext cx="4114800" cy="310896"/>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  EHR integration for clinic handoff</a:t>
            </a:r>
            <a:endParaRPr lang="en-US" sz="1100" dirty="0"/>
          </a:p>
        </p:txBody>
      </p:sp>
      <p:sp>
        <p:nvSpPr>
          <p:cNvPr id="24" name="Text 22"/>
          <p:cNvSpPr/>
          <p:nvPr/>
        </p:nvSpPr>
        <p:spPr>
          <a:xfrm>
            <a:off x="521208" y="3749040"/>
            <a:ext cx="4114800" cy="310896"/>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  Population-level disease surveillance</a:t>
            </a:r>
            <a:endParaRPr lang="en-US" sz="1100" dirty="0"/>
          </a:p>
        </p:txBody>
      </p:sp>
      <p:sp>
        <p:nvSpPr>
          <p:cNvPr id="25" name="Text 23"/>
          <p:cNvSpPr/>
          <p:nvPr/>
        </p:nvSpPr>
        <p:spPr>
          <a:xfrm>
            <a:off x="521208" y="4096512"/>
            <a:ext cx="4114800" cy="310896"/>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  20+ language expansion across South Asia</a:t>
            </a:r>
            <a:endParaRPr lang="en-US" sz="1100" dirty="0"/>
          </a:p>
        </p:txBody>
      </p:sp>
      <p:sp>
        <p:nvSpPr>
          <p:cNvPr id="26" name="Text 24"/>
          <p:cNvSpPr/>
          <p:nvPr/>
        </p:nvSpPr>
        <p:spPr>
          <a:xfrm>
            <a:off x="521208" y="4443984"/>
            <a:ext cx="4114800" cy="310896"/>
          </a:xfrm>
          <a:prstGeom prst="rect">
            <a:avLst/>
          </a:prstGeom>
          <a:noFill/>
          <a:ln/>
        </p:spPr>
        <p:txBody>
          <a:bodyPr wrap="square" lIns="0" tIns="0" rIns="0" bIns="0" rtlCol="0" anchor="ctr"/>
          <a:lstStyle/>
          <a:p>
            <a:pPr marL="0" indent="0">
              <a:buNone/>
            </a:pPr>
            <a:r>
              <a:rPr lang="en-US" sz="1100" dirty="0">
                <a:solidFill>
                  <a:srgbClr val="555555"/>
                </a:solidFill>
                <a:latin typeface="Calibri" pitchFamily="34" charset="0"/>
                <a:ea typeface="Calibri" pitchFamily="34" charset="-122"/>
                <a:cs typeface="Calibri" pitchFamily="34" charset="-120"/>
              </a:rPr>
              <a:t>—  National government health system adoption</a:t>
            </a:r>
            <a:endParaRPr lang="en-US" sz="1100" dirty="0"/>
          </a:p>
        </p:txBody>
      </p:sp>
      <p:sp>
        <p:nvSpPr>
          <p:cNvPr id="34" name="Shape 32"/>
          <p:cNvSpPr/>
          <p:nvPr/>
        </p:nvSpPr>
        <p:spPr>
          <a:xfrm>
            <a:off x="4652772" y="1110996"/>
            <a:ext cx="13716" cy="3730752"/>
          </a:xfrm>
          <a:prstGeom prst="rect">
            <a:avLst/>
          </a:prstGeom>
          <a:solidFill>
            <a:srgbClr val="E8E8E8"/>
          </a:solidFill>
          <a:ln w="12700">
            <a:solidFill>
              <a:srgbClr val="E8E8E8"/>
            </a:solidFill>
            <a:prstDash val="solid"/>
          </a:ln>
        </p:spPr>
        <p:txBody>
          <a:bodyPr/>
          <a:lstStyle/>
          <a:p>
            <a:endParaRPr lang="en-US"/>
          </a:p>
        </p:txBody>
      </p:sp>
      <p:sp>
        <p:nvSpPr>
          <p:cNvPr id="35" name="Shape 33"/>
          <p:cNvSpPr/>
          <p:nvPr/>
        </p:nvSpPr>
        <p:spPr>
          <a:xfrm>
            <a:off x="502920" y="3017520"/>
            <a:ext cx="8138160" cy="13716"/>
          </a:xfrm>
          <a:prstGeom prst="rect">
            <a:avLst/>
          </a:prstGeom>
          <a:solidFill>
            <a:srgbClr val="E8E8E8"/>
          </a:solidFill>
          <a:ln w="12700">
            <a:solidFill>
              <a:srgbClr val="E8E8E8"/>
            </a:solidFill>
            <a:prstDash val="solid"/>
          </a:ln>
        </p:spPr>
        <p:txBody>
          <a:bodyPr/>
          <a:lstStyle/>
          <a:p>
            <a:endParaRPr lang="en-US"/>
          </a:p>
        </p:txBody>
      </p:sp>
      <p:sp>
        <p:nvSpPr>
          <p:cNvPr id="36" name="Text 34"/>
          <p:cNvSpPr/>
          <p:nvPr/>
        </p:nvSpPr>
        <p:spPr>
          <a:xfrm>
            <a:off x="0" y="4869180"/>
            <a:ext cx="9144000" cy="256032"/>
          </a:xfrm>
          <a:prstGeom prst="rect">
            <a:avLst/>
          </a:prstGeom>
          <a:noFill/>
          <a:ln/>
        </p:spPr>
        <p:txBody>
          <a:bodyPr wrap="square" rtlCol="0" anchor="ctr"/>
          <a:lstStyle/>
          <a:p>
            <a:pPr marL="0" indent="0" algn="r">
              <a:buNone/>
            </a:pPr>
            <a:r>
              <a:rPr lang="en-US" sz="850" dirty="0">
                <a:solidFill>
                  <a:srgbClr val="E8E8E8"/>
                </a:solidFill>
                <a:latin typeface="Calibri" pitchFamily="34" charset="0"/>
                <a:ea typeface="Calibri" pitchFamily="34" charset="-122"/>
                <a:cs typeface="Calibri" pitchFamily="34" charset="-120"/>
              </a:rPr>
              <a:t>07 / 08</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TotalTime>
  <Words>735</Words>
  <Application>Microsoft Office PowerPoint</Application>
  <PresentationFormat>On-screen Show (16:9)</PresentationFormat>
  <Paragraphs>151</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Health Diagnosis App</dc:title>
  <dc:subject>PptxGenJS Presentation</dc:subject>
  <dc:creator>PptxGenJS</dc:creator>
  <cp:lastModifiedBy>Anbisha Humagain</cp:lastModifiedBy>
  <cp:revision>3</cp:revision>
  <dcterms:created xsi:type="dcterms:W3CDTF">2026-03-16T03:52:42Z</dcterms:created>
  <dcterms:modified xsi:type="dcterms:W3CDTF">2026-03-16T04:50:58Z</dcterms:modified>
</cp:coreProperties>
</file>